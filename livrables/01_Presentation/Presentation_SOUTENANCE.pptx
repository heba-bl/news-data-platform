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5120640"/>
            <a:ext cx="11780215" cy="91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8229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News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</a:rPr>
              <a:t>Architecture Big Data pour l'Analyse des Articles de Presse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5100"/>
                </a:solidFill>
              </a:rPr>
              <a:t>Kafka  ·  Airflow  ·  MinIO  ·  PostgreSQL  ·  Grafana  · 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767" y="3931920"/>
            <a:ext cx="1600200" cy="868680"/>
          </a:xfrm>
          <a:prstGeom prst="roundRect">
            <a:avLst/>
          </a:prstGeom>
          <a:solidFill>
            <a:srgbClr val="283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767" y="3977640"/>
            <a:ext cx="1600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44622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Articles Bronze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8559" y="3931920"/>
            <a:ext cx="1600200" cy="868680"/>
          </a:xfrm>
          <a:prstGeom prst="roundRect">
            <a:avLst/>
          </a:prstGeom>
          <a:solidFill>
            <a:srgbClr val="283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8559" y="3977640"/>
            <a:ext cx="1600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8559" y="44622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Articles DWH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351" y="3931920"/>
            <a:ext cx="1600200" cy="868680"/>
          </a:xfrm>
          <a:prstGeom prst="roundRect">
            <a:avLst/>
          </a:prstGeom>
          <a:solidFill>
            <a:srgbClr val="283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351" y="3977640"/>
            <a:ext cx="1600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3351" y="44622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Sources 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3931920"/>
            <a:ext cx="1600200" cy="868680"/>
          </a:xfrm>
          <a:prstGeom prst="roundRect">
            <a:avLst/>
          </a:prstGeom>
          <a:solidFill>
            <a:srgbClr val="283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8143" y="3977640"/>
            <a:ext cx="1600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143" y="44622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Services Docker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2935" y="3931920"/>
            <a:ext cx="1600200" cy="868680"/>
          </a:xfrm>
          <a:prstGeom prst="roundRect">
            <a:avLst/>
          </a:prstGeom>
          <a:solidFill>
            <a:srgbClr val="283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2935" y="3977640"/>
            <a:ext cx="1600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2935" y="44622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Pays couverts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07727" y="3931920"/>
            <a:ext cx="1600200" cy="868680"/>
          </a:xfrm>
          <a:prstGeom prst="roundRect">
            <a:avLst/>
          </a:prstGeom>
          <a:solidFill>
            <a:srgbClr val="283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7727" y="3977640"/>
            <a:ext cx="1600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7727" y="44622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Langues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727" y="5074920"/>
            <a:ext cx="3474720" cy="960120"/>
          </a:xfrm>
          <a:prstGeom prst="roundRect">
            <a:avLst/>
          </a:prstGeom>
          <a:solidFill>
            <a:srgbClr val="28349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3727" y="51389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</a:rPr>
              <a:t>Étudiants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727" y="537667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HIBATALLAH BAETOUTY &amp; ABDELALI SAHIA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487" y="5074920"/>
            <a:ext cx="3474720" cy="960120"/>
          </a:xfrm>
          <a:prstGeom prst="roundRect">
            <a:avLst/>
          </a:prstGeom>
          <a:solidFill>
            <a:srgbClr val="28349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8487" y="51389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</a:rPr>
              <a:t>Groupe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8487" y="537667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3247" y="5074920"/>
            <a:ext cx="3474720" cy="960120"/>
          </a:xfrm>
          <a:prstGeom prst="roundRect">
            <a:avLst/>
          </a:prstGeom>
          <a:solidFill>
            <a:srgbClr val="28349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3247" y="51389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</a:rPr>
              <a:t>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3247" y="537667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15/05/2026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68680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01  Contexte &amp; Objectifs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536192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536192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733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02  Sources de Données  (8 sources)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203704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203704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40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03  Architecture Globale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871216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871216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08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04  Data Ingestion — Kafka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538728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538728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75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05  Data Lake — MinIO Médaillon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06240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206240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43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06  Transformation des Données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873752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873752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109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07  Orchestration — Airflow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541264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41264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678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08  Data Warehouse — PostgreSQL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868680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868680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005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09  Visualisation — Grafana &amp; Metabase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1536192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1536192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6733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10  Qualité &amp; Gouvernance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2203704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2203704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340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11  Déploiement — Docker (14 services)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2871216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2871216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008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12  Monitoring — Prometheus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538728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3538728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675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13  Choix Technologiques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4206240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4206240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343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14  Difficultés &amp; Solutions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4873752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55080" y="4873752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50109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15  Démonstration Fonctionnelle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5541264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5080" y="5541264"/>
            <a:ext cx="91440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5678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16  Conclusion &amp; Livrables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Contexte — Pourquoi une plateforme d'analyse de presse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68680"/>
            <a:ext cx="2651760" cy="43891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68680"/>
            <a:ext cx="265176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</a:rPr>
              <a:t>Volume Massif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313432"/>
            <a:ext cx="2331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Des milliers d'articles publiés chaque jour, impossibles à analyser manuellement.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868680"/>
            <a:ext cx="2651760" cy="438912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868680"/>
            <a:ext cx="2651760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9326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A1B9A"/>
                </a:solidFill>
              </a:rPr>
              <a:t>Tendances Floues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313432"/>
            <a:ext cx="2331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Sans outil dédié, identifier les sujets dominants prend des heures de lecture.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868680"/>
            <a:ext cx="2651760" cy="43891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868680"/>
            <a:ext cx="2651760" cy="8686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9326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5100"/>
                </a:solidFill>
              </a:rPr>
              <a:t>Besoin Temps Réel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2313432"/>
            <a:ext cx="2331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Les événements évoluent vite — une analyse tardive perd toute valeur.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868680"/>
            <a:ext cx="2651760" cy="43891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9800" y="868680"/>
            <a:ext cx="265176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9326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Sources Multiples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2313432"/>
            <a:ext cx="2331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Agréger presse marocaine et internationale nécessite une infrastructure unifiée.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Objectifs du Projet — 6 axes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96112"/>
            <a:ext cx="55321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225296"/>
            <a:ext cx="5029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527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9875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Collecter automatiquement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39903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Scraping 8 sources toutes les heures via Python + BeautifulSoup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896112"/>
            <a:ext cx="55321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3368" y="1225296"/>
            <a:ext cx="502920" cy="5029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2527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9875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Pipeline Big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39903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Kafka streaming + Airflow orchestration — architecture distribuée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505456"/>
            <a:ext cx="55321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" y="2834640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2862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25968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Architecture Médaillon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008376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Bronze → Silver → Gold dans MinIO (Object Storage compatible S3)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505456"/>
            <a:ext cx="55321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3368" y="2834640"/>
            <a:ext cx="502920" cy="5029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862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25968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</a:rPr>
              <a:t>Data Warehouse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3008376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Modèle en étoile PostgreSQL — fact_articles + dim_source + dim_date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114800"/>
            <a:ext cx="55321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1208" y="4443984"/>
            <a:ext cx="50292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447141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4206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96B"/>
                </a:solidFill>
              </a:rPr>
              <a:t>Qualité &amp; Gouvernance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" y="46177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Contrôles automatisés (taux 75.7%) + Data Lineage complet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114800"/>
            <a:ext cx="55321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3368" y="4443984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447141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4206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Visualisation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46177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Grafana 13 panels analytiques + Metabase BI self-service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Sources de Données — 8 sources (4 internationales · 4 marocaines)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03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🌍 International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8503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🇲🇦 Maroc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07008"/>
            <a:ext cx="5486400" cy="1170432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🇬🇧 BBC News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1316736"/>
            <a:ext cx="512064" cy="237744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2" y="1316736"/>
            <a:ext cx="512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459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bbc.com/news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3852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Monde · Tech · Science · 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42032"/>
            <a:ext cx="5486400" cy="1170432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1518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🇺🇸 CNN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5232" y="2651760"/>
            <a:ext cx="512064" cy="23774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2651760"/>
            <a:ext cx="512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8094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edition.cnn.com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7355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Monde · Politique · Business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77056"/>
            <a:ext cx="5486400" cy="1170432"/>
          </a:xfrm>
          <a:prstGeom prst="roundRect">
            <a:avLst/>
          </a:prstGeom>
          <a:solidFill>
            <a:srgbClr val="EDE7F6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502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</a:rPr>
              <a:t>🇬🇧 Reuters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85232" y="3986784"/>
            <a:ext cx="512064" cy="237744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5232" y="3986784"/>
            <a:ext cx="512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1596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reuters.com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085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Finance · Politique · Marchés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12080"/>
            <a:ext cx="5486400" cy="1170432"/>
          </a:xfrm>
          <a:prstGeom prst="roundRect">
            <a:avLst/>
          </a:prstGeom>
          <a:solidFill>
            <a:srgbClr val="E0F2F1"/>
          </a:solidFill>
          <a:ln w="1524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2852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96B"/>
                </a:solidFill>
              </a:rPr>
              <a:t>🇶🇦 Al Jazeera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85232" y="5321808"/>
            <a:ext cx="512064" cy="23774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2" y="5321808"/>
            <a:ext cx="512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65099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aljazeera.net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9436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Monde · Politique · Moyen-Orient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207008"/>
            <a:ext cx="5486400" cy="1170432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🇲🇦 Hespress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28832" y="1316736"/>
            <a:ext cx="512064" cy="23774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28832" y="1316736"/>
            <a:ext cx="512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16459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hespress.com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193852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Politique · Sport · Économie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542032"/>
            <a:ext cx="5486400" cy="1170432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261518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🇲🇦 Akhbarona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28832" y="2651760"/>
            <a:ext cx="512064" cy="237744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28832" y="2651760"/>
            <a:ext cx="512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298094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akhbarona.com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27355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Actualité générale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3877056"/>
            <a:ext cx="5486400" cy="1170432"/>
          </a:xfrm>
          <a:prstGeom prst="roundRect">
            <a:avLst/>
          </a:prstGeom>
          <a:solidFill>
            <a:srgbClr val="BBDEFB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9502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🇲🇦 Lakom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228832" y="3986784"/>
            <a:ext cx="512064" cy="237744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28832" y="3986784"/>
            <a:ext cx="512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31596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lakom.ma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6085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Actualité générale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5212080"/>
            <a:ext cx="5486400" cy="1170432"/>
          </a:xfrm>
          <a:prstGeom prst="roundRect">
            <a:avLst/>
          </a:prstGeom>
          <a:solidFill>
            <a:srgbClr val="FFEBEB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52852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🇲🇦 Barlamane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228832" y="5321808"/>
            <a:ext cx="512064" cy="237744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28832" y="5321808"/>
            <a:ext cx="512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565099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16161"/>
                </a:solidFill>
              </a:rPr>
              <a:t>barlamane.com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59436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Politique · Parlement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400800"/>
            <a:ext cx="11277295" cy="38404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565C0"/>
                </a:solidFill>
              </a:rPr>
              <a:t>Données collectées :   Titre · Auteur · Date · Catégorie · Contenu complet · URL · Langue détectée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Globale — Flux de données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6 / 25</a:t>
            </a:r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1143000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Ingestion — Deux modes complémentaires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68680"/>
            <a:ext cx="539496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5394960" cy="6583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⏱  Batch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Scraping planifié toutes les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12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Orchestré par Apache Airflow DAG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97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DAG : scraping_batch (@hourly)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8 sources scrapées en parallèle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136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Chaque article → Kafka Producer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Consumer → MinIO Bronze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074920"/>
            <a:ext cx="3474720" cy="54864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138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65C0"/>
                </a:solidFill>
              </a:rPr>
              <a:t>Apache Airflow  ·  scraping_batch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868680"/>
            <a:ext cx="539496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868680"/>
            <a:ext cx="539496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914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 Streaming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Chaque article = 1 message Kafka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12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Topic : news-articles (3 partitions)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7797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Consumer lit en continu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3467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Stockage immédiat dans Bronze (MinIO)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136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Rétention messages : 7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Format JSON · Port 9092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074920"/>
            <a:ext cx="3474720" cy="548640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5138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100"/>
                </a:solidFill>
              </a:rPr>
              <a:t>Apache Kafka  ·  news-articles (3 partitions)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16161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Lake — MinIO · Architecture Médaillon (Bronze → Silver → 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68680"/>
            <a:ext cx="3337560" cy="516636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3337560" cy="71323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052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184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360C"/>
                </a:solidFill>
              </a:rPr>
              <a:t>Bronze — Données Brutes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75688"/>
            <a:ext cx="2971800" cy="384048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055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Format : JSON brut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328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360C"/>
                </a:solidFill>
              </a:rPr>
              <a:t>📁 bronze/raw/YYYY/MM/DD/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Articles tels que scrapés — aucune modification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47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Partitionné par date YYYY/MM/DD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959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900+ fichiers — 8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4456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Historique complet conservé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868680"/>
            <a:ext cx="3337560" cy="5166360"/>
          </a:xfrm>
          <a:prstGeom prst="roundRect">
            <a:avLst/>
          </a:prstGeom>
          <a:solidFill>
            <a:srgbClr val="ECEFF1"/>
          </a:solidFill>
          <a:ln w="2286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868680"/>
            <a:ext cx="3337560" cy="713232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9052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6184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7474F"/>
                </a:solidFill>
              </a:rPr>
              <a:t>Silver — Données Nettoyées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075688"/>
            <a:ext cx="2971800" cy="384048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13055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Format : Parquet (Snappy)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5328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7474F"/>
                </a:solidFill>
              </a:rPr>
              <a:t>📁 silver/cleaned/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9864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Suppression des balises 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447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Normalisation Unicode + espaces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9959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Détection langue (langdetect)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54456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Déduplication par URL unique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509320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173 articles — 13 fichiers Parquet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868680"/>
            <a:ext cx="3337560" cy="5166360"/>
          </a:xfrm>
          <a:prstGeom prst="roundRect">
            <a:avLst/>
          </a:prstGeom>
          <a:solidFill>
            <a:srgbClr val="FFFDE7"/>
          </a:solidFill>
          <a:ln w="2286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868680"/>
            <a:ext cx="3337560" cy="71323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9052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16184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Gold — Données Analytiques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2075688"/>
            <a:ext cx="2971800" cy="384048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213055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Format : Parquet optimisé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25328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7F17"/>
                </a:solidFill>
              </a:rPr>
              <a:t>📁 gold/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289864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Agrégations pré-calculées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3447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Articles par source / jour / pays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39959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Top mots-clés (stopwords retirés)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454456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Distribution des langues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509320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✓  20 fichiers — prêt DWH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Médaillon — Transformations étape par étape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68680"/>
            <a:ext cx="3703320" cy="50292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868680"/>
            <a:ext cx="3703320" cy="8412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🟫 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907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360C"/>
                </a:solidFill>
              </a:rPr>
              <a:t>Données Brutes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JSON bruts depuis Kafka Consumer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Historique complet conservé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0098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Aucune modification des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7705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Partitionné par date YYYY/MM/DD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5312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900+ fichiers — 8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16161"/>
                </a:solidFill>
              </a:rPr>
              <a:t>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868680"/>
            <a:ext cx="3703320" cy="50292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868680"/>
            <a:ext cx="3703320" cy="84124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89611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⬜ SILVER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171907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7474F"/>
                </a:solidFill>
              </a:rPr>
              <a:t>Données Nettoyées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488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Suppression des balises 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7249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Normalisation Unicode + espaces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0098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Détection langue (langdetect)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7705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Déduplication par URL unique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5312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13 fichiers Parquet compressés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16161"/>
                </a:solidFill>
              </a:rPr>
              <a:t>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868680"/>
            <a:ext cx="3703320" cy="5029200"/>
          </a:xfrm>
          <a:prstGeom prst="roundRect">
            <a:avLst/>
          </a:prstGeom>
          <a:solidFill>
            <a:srgbClr val="FFFDE7"/>
          </a:solidFill>
          <a:ln w="254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868680"/>
            <a:ext cx="3703320" cy="8412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89611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🥇 GOLD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171907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Données Analytiques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1488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Agrégations pré-calculées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249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Articles par source / pays / jour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30098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Top mots-clés (stopwords retirés)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87705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Distribution des langues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45312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20 fichiers Parquet — prêt DWH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6035040"/>
            <a:ext cx="11423599" cy="65836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565C0"/>
                </a:solidFill>
              </a:rPr>
              <a:t>ETL Python :  bronze_to_silver.py  ·  silver_to_gold.py   |   Orchestration : Apache Airflow @daily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Transformation des Données — Pipeline ETL Python (6 étapes)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1719072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536192"/>
            <a:ext cx="658368" cy="65836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</a:rPr>
              <a:t>Lecture
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15361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24242"/>
                </a:solidFill>
              </a:rPr>
              <a:t>Lecture fichiers JSON
depuis MinIO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5468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6584" y="1828800"/>
            <a:ext cx="1719072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16936" y="1536192"/>
            <a:ext cx="658368" cy="65836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1554480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6584" y="1993392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5100"/>
                </a:solidFill>
              </a:rPr>
              <a:t>Nettoyage
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8024" y="2788920"/>
            <a:ext cx="15361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24242"/>
                </a:solidFill>
              </a:rPr>
              <a:t>BeautifulSoup retire
toutes les balises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4" y="315468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1828800"/>
            <a:ext cx="1719072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92040" y="1536192"/>
            <a:ext cx="658368" cy="65836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554480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993392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A1B9A"/>
                </a:solidFill>
              </a:rPr>
              <a:t>Normalisation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2788920"/>
            <a:ext cx="15361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24242"/>
                </a:solidFill>
              </a:rPr>
              <a:t>Unicode · Espaces
Caractères spéciaux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315468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1828800"/>
            <a:ext cx="1719072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67144" y="1536192"/>
            <a:ext cx="658368" cy="6583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7144" y="1554480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993392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Détection
Langue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2788920"/>
            <a:ext cx="15361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24242"/>
                </a:solidFill>
              </a:rPr>
              <a:t>langdetect
(EN / AR / FR)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315468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11896" y="1828800"/>
            <a:ext cx="1719072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42248" y="1536192"/>
            <a:ext cx="658368" cy="658368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42248" y="1554480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1993392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96B"/>
                </a:solidFill>
              </a:rPr>
              <a:t>Déduplication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2788920"/>
            <a:ext cx="15361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24242"/>
                </a:solidFill>
              </a:rPr>
              <a:t>Hash URL unique
anti-doublons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9256" y="315468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87000" y="1828800"/>
            <a:ext cx="1719072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817352" y="1536192"/>
            <a:ext cx="658368" cy="65836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17352" y="1554480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1993392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62828"/>
                </a:solidFill>
              </a:rPr>
              <a:t>Écriture
Silver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2788920"/>
            <a:ext cx="15361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24242"/>
                </a:solidFill>
              </a:rPr>
              <a:t>Parquet Snappy
vers MinIO silver/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6053328"/>
            <a:ext cx="11368735" cy="6400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7D32"/>
                </a:solidFill>
              </a:rPr>
              <a:t>Python + Pandas  ·  bronze_to_silver.py  ·  data_quality.py  ·  Résultat : 173 articles nettoyés dans Silver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Orchestration — Apache Airflow · 3 DAGs planifiés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68680"/>
            <a:ext cx="3520440" cy="4937760"/>
          </a:xfrm>
          <a:prstGeom prst="roundRect">
            <a:avLst/>
          </a:prstGeom>
          <a:solidFill>
            <a:srgbClr val="E3F2FD"/>
          </a:solidFill>
          <a:ln w="228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868680"/>
            <a:ext cx="352044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2354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710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scraping_batch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1984248"/>
            <a:ext cx="2606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0391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65C0"/>
                </a:solidFill>
              </a:rPr>
              <a:t>⏰ Schedule : @hourly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3288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Lance 8 scrapers en parallèle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6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Chaque article → KafkaProducer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593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Consumer → MinIO Bronze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67258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Monitoring : logs + retry auto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868680"/>
            <a:ext cx="3520440" cy="493776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6" y="868680"/>
            <a:ext cx="3520440" cy="10058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6" y="92354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12710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transformation_pipeline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45736" y="1984248"/>
            <a:ext cx="2606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20391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100"/>
                </a:solidFill>
              </a:rPr>
              <a:t>⏰ Schedule : @daily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53288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Lit les fichiers Bronze (MinIO)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246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ETL : nettoyage + normalisation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39593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Détection langue + dédup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467258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Parquet Silver + Gold → MinIO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4" y="868680"/>
            <a:ext cx="3520440" cy="493776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4" y="868680"/>
            <a:ext cx="352044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92354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12710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warehouse_load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50224" y="1984248"/>
            <a:ext cx="2606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20391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⏰ Schedule : @daily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53288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Lit Silver + Gold depuis MinIO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3246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Charge fact_articles + dimensions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9593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Met à jour tables agrégées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67258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▶  Log qualité → data_quality_log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" y="5961888"/>
            <a:ext cx="11423599" cy="6858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71616"/>
            <a:ext cx="109115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565C0"/>
                </a:solidFill>
              </a:rPr>
              <a:t>Interface Airflow  →  http://localhost:8080  |  admin / admin123  |  Airflow 2.8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Warehouse — PostgreSQL · Modèle en Étoile (Star Schema)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502920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841248"/>
            <a:ext cx="502920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8696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⭐ Modèle en Étoile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                   dim_date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996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                   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dim_source ────── fact_articles ────── dim_category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4436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                    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0156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              (language, word_count,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               content, url, author)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1648"/>
            <a:ext cx="4663440" cy="27432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0599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1B9A"/>
                </a:solidFill>
              </a:rPr>
              <a:t>📌 fact_articles (table de faits)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52544"/>
            <a:ext cx="4663440" cy="27432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3708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1B9A"/>
                </a:solidFill>
              </a:rPr>
              <a:t>📌 dim_date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4663440" cy="27432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68172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1B9A"/>
                </a:solidFill>
              </a:rPr>
              <a:t>📌 dim_source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4663440" cy="27432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926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1B9A"/>
                </a:solidFill>
              </a:rPr>
              <a:t>📌 dim_category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841248"/>
            <a:ext cx="6126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841248"/>
            <a:ext cx="612648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886968"/>
            <a:ext cx="5897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Tables Agrégées (Gold Layer Matérialisé)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1554480"/>
            <a:ext cx="2743200" cy="45720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15910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agg_articles_by_source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181051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16161"/>
                </a:solidFill>
              </a:rPr>
              <a:t>Articles par 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554480"/>
            <a:ext cx="2743200" cy="45720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5910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agg_articles_by_day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81051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16161"/>
                </a:solidFill>
              </a:rPr>
              <a:t>Tendance temporelle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2121408"/>
            <a:ext cx="2743200" cy="45720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21579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agg_articles_by_country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3774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16161"/>
                </a:solidFill>
              </a:rPr>
              <a:t>Articles par pays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2121408"/>
            <a:ext cx="2743200" cy="45720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21579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agg_articles_by_category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3774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16161"/>
                </a:solidFill>
              </a:rPr>
              <a:t>Par catégorie / thème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2688336"/>
            <a:ext cx="2743200" cy="45720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0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agg_top_keywords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2944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16161"/>
                </a:solidFill>
              </a:rPr>
              <a:t>Top 131 mots-clés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688336"/>
            <a:ext cx="2743200" cy="457200"/>
          </a:xfrm>
          <a:prstGeom prst="roundRect">
            <a:avLst/>
          </a:prstGeom>
          <a:solidFill>
            <a:srgbClr val="EDE7F6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agg_language_distribution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2944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16161"/>
                </a:solidFill>
              </a:rPr>
              <a:t>Distribution langues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0" y="4187952"/>
            <a:ext cx="61264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0" y="4187952"/>
            <a:ext cx="6126480" cy="5303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4233672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Gouvernance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4828032"/>
            <a:ext cx="5897880" cy="457200"/>
          </a:xfrm>
          <a:prstGeom prst="roundRect">
            <a:avLst/>
          </a:prstGeom>
          <a:solidFill>
            <a:srgbClr val="E0F2F1"/>
          </a:solidFill>
          <a:ln w="635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97880" y="48646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96B"/>
                </a:solidFill>
              </a:rPr>
              <a:t>pipeline_runs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0840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Historique de chaque exécution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5422392"/>
            <a:ext cx="5897880" cy="457200"/>
          </a:xfrm>
          <a:prstGeom prst="roundRect">
            <a:avLst/>
          </a:prstGeom>
          <a:solidFill>
            <a:srgbClr val="E0F2F1"/>
          </a:solidFill>
          <a:ln w="635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54589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96B"/>
                </a:solidFill>
              </a:rPr>
              <a:t>data_quality_log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7880" y="56784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Rapport qualité par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Visualisation — Grafana · 13 panels analytiques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68680"/>
            <a:ext cx="1874519" cy="914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9903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Articles DWH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1" y="868680"/>
            <a:ext cx="1874519" cy="91440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1" y="914400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1" y="139903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Bronze Bruts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2" y="868680"/>
            <a:ext cx="1874519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2" y="914400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2" y="139903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Sources Actives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3" y="868680"/>
            <a:ext cx="1874519" cy="9144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3" y="914400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3" y="139903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Mots-clés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4" y="868680"/>
            <a:ext cx="1874519" cy="9144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4" y="914400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75.7%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4" y="139903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Taux Qualité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35" y="868680"/>
            <a:ext cx="1874519" cy="9144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35" y="914400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35" y="139903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Pays couverts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1920240"/>
            <a:ext cx="5349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029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📊 Total articles collectés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505456"/>
            <a:ext cx="5349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615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🔵 Sources actives (8)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090672"/>
            <a:ext cx="5349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🌍 Articles par Pays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675888"/>
            <a:ext cx="5349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785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🗣 Distribution des Langues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261104"/>
            <a:ext cx="5349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📈 Tendances / 21 jours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846320"/>
            <a:ext cx="5349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956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⚙️ Pipeline Runs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431536"/>
            <a:ext cx="5349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5412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✅ Rapport Qualité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1920240"/>
            <a:ext cx="5715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029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📰 Articles par Source (bar chart)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2578608"/>
            <a:ext cx="5715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6883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🔑 Top 20 Mots-clés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3236976"/>
            <a:ext cx="5715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3467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📂 Articles par Catégorie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3895344"/>
            <a:ext cx="5715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0050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📅 Articles par Jour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0760" y="4553712"/>
            <a:ext cx="5715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4663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🕐 Dernier Scraping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0760" y="5212080"/>
            <a:ext cx="5715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5321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⚡ Kafka Messages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6053328"/>
            <a:ext cx="11368735" cy="658368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65100"/>
                </a:solidFill>
              </a:rPr>
              <a:t>Grafana  →  http://localhost:3001  |  admin / admin123  |  Dashboard : News Data Platform (tag: news)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Qualité des Données — Contrôles automatisés · 3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14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960120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Contrôle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9601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960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Règle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07592"/>
            <a:ext cx="960120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26464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✗  Titre vide ou trop court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26464"/>
            <a:ext cx="182880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264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4264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len(title) &gt;=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837944"/>
            <a:ext cx="9601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56816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✗  Date manquante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956816"/>
            <a:ext cx="182880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9568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published_at IS NOT NULL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368296"/>
            <a:ext cx="960120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8716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✗  Contenu trop court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487168"/>
            <a:ext cx="1828800" cy="29260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4871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487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len(content) &gt;= 100 chars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898648"/>
            <a:ext cx="9601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01752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✗  URL invalide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017520"/>
            <a:ext cx="1828800" cy="29260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0175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017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url.startswith('http')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29000"/>
            <a:ext cx="960120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5478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✗  Source manquante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3547872"/>
            <a:ext cx="182880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5478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5478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source IS NOT NULL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959352"/>
            <a:ext cx="9601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78224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✗  Langue incohérente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4078224"/>
            <a:ext cx="1828800" cy="29260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0782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Cohérence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0782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Langue détectée ↔ source attendue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120640"/>
            <a:ext cx="2560320" cy="914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16636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173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650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Articles totaux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46120" y="5120640"/>
            <a:ext cx="256032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516636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5650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Articles valides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5120640"/>
            <a:ext cx="2560320" cy="9144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516636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75.7%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650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Taux de qualité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23960" y="5120640"/>
            <a:ext cx="2926080" cy="914400"/>
          </a:xfrm>
          <a:prstGeom prst="roundRect">
            <a:avLst/>
          </a:prstGeom>
          <a:solidFill>
            <a:srgbClr val="EDE7F6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0" y="51937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Log qualité 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54498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data_quality_log
(PostgreSQL)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Gouvernance des Données — Traçabilité · Documentation · Transparence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68680"/>
            <a:ext cx="11368735" cy="80467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Data Lineage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960120"/>
            <a:ext cx="93570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[EXTERNE] 8 sources  →  [BRONZE] JSON MinIO  →  [SILVER] Parquet  →  [GOLD] Agrégats  →  [DWH] 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83080"/>
            <a:ext cx="2606040" cy="36576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60604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288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51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</a:rPr>
              <a:t>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8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Schéma de chaque dataset
Format + localisation
Pipeline producteur
governance/lineage.py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1783080"/>
            <a:ext cx="2606040" cy="365760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6432" y="1783080"/>
            <a:ext cx="2606040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8288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651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A1B9A"/>
                </a:solidFill>
              </a:rPr>
              <a:t>Traçabilité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3127248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Source → destination
lineage.jsonl log file
Catalogue complet
5 datasets documentés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1384" y="1783080"/>
            <a:ext cx="2606040" cy="3657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01384" y="1783080"/>
            <a:ext cx="2606040" cy="7772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18288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651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96B"/>
                </a:solidFill>
              </a:rPr>
              <a:t>Suivi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3127248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Table pipeline_runs
status + records_in/out
Durée d'exécution
Historique complet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6336" y="1783080"/>
            <a:ext cx="2606040" cy="36576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46336" y="1783080"/>
            <a:ext cx="260604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6336" y="18288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2651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Qualité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3127248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data_quality_log
Taux validation 75.7%
Issues détectées
Par pipeline + date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Déploiement — Docker Compose · 14 services · 1 commande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2240280" cy="804672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</a:rPr>
              <a:t>zookeeper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:2181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Coordination Kafka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914400"/>
            <a:ext cx="2240280" cy="804672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960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</a:rPr>
              <a:t>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12618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:9092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1444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Message Broker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6984" y="914400"/>
            <a:ext cx="2240280" cy="804672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8424" y="960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</a:rPr>
              <a:t>kafka-ui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8424" y="12618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:8090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1444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Interface Kafka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914400"/>
            <a:ext cx="2240280" cy="804672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960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</a:rPr>
              <a:t>minio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2618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:9000/:9200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1444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Object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62488" y="914400"/>
            <a:ext cx="2240280" cy="804672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53928" y="960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</a:rPr>
              <a:t>minio-init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3928" y="12618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interne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3928" y="1444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Init buckets bronze/silver/gold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1975104"/>
            <a:ext cx="2240280" cy="804672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</a:rPr>
              <a:t>postgres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3225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:5432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5054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Data Warehouse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99232" y="1975104"/>
            <a:ext cx="2240280" cy="804672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scraper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0672" y="23225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interne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25054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Web Scraping — 8 sources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86984" y="1975104"/>
            <a:ext cx="2240280" cy="804672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78424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consumer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78424" y="23225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interne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78424" y="25054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Kafka → MinIO Bronze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74736" y="1975104"/>
            <a:ext cx="2240280" cy="804672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processor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23225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interne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25054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Bronze → Silver → Gold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62488" y="1975104"/>
            <a:ext cx="2240280" cy="804672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53928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</a:rPr>
              <a:t>warehouse-loader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3928" y="23225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interne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53928" y="25054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Gold → PostgreSQL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3035808"/>
            <a:ext cx="2240280" cy="804672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081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5100"/>
                </a:solidFill>
              </a:rPr>
              <a:t>airflow-webserver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:8080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3566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Orchestration UI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99232" y="3035808"/>
            <a:ext cx="2240280" cy="804672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90672" y="3081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5100"/>
                </a:solidFill>
              </a:rPr>
              <a:t>airflow-scheduler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90672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interne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3566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DAG Scheduler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86984" y="3035808"/>
            <a:ext cx="2240280" cy="804672"/>
          </a:xfrm>
          <a:prstGeom prst="roundRect">
            <a:avLst/>
          </a:prstGeom>
          <a:solidFill>
            <a:srgbClr val="EDE7F6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78424" y="3081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A1B9A"/>
                </a:solidFill>
              </a:rPr>
              <a:t>metabase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78424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:3000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78424" y="3566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BI Analytics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74736" y="3035808"/>
            <a:ext cx="2240280" cy="804672"/>
          </a:xfrm>
          <a:prstGeom prst="roundRect">
            <a:avLst/>
          </a:prstGeom>
          <a:solidFill>
            <a:srgbClr val="EDE7F6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6176" y="3081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A1B9A"/>
                </a:solidFill>
              </a:rPr>
              <a:t>prometheus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:9090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66176" y="3566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Métriques système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762488" y="3035808"/>
            <a:ext cx="2240280" cy="804672"/>
          </a:xfrm>
          <a:prstGeom prst="roundRect">
            <a:avLst/>
          </a:prstGeom>
          <a:solidFill>
            <a:srgbClr val="EDE7F6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3928" y="3081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A1B9A"/>
                </a:solidFill>
              </a:rPr>
              <a:t>grafana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3928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:3001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3928" y="3566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242"/>
                </a:solidFill>
              </a:rPr>
              <a:t>Dashboards visuels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6053328"/>
            <a:ext cx="1136873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4400" y="6144768"/>
            <a:ext cx="1645920" cy="384048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6144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65C0"/>
                </a:solidFill>
              </a:rPr>
              <a:t>Infra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34640" y="6144768"/>
            <a:ext cx="1645920" cy="38404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34640" y="6144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Pipeline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54880" y="6144768"/>
            <a:ext cx="1645920" cy="384048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0" y="6144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5100"/>
                </a:solidFill>
              </a:rPr>
              <a:t>Airflow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75120" y="6144768"/>
            <a:ext cx="1645920" cy="384048"/>
          </a:xfrm>
          <a:prstGeom prst="roundRect">
            <a:avLst/>
          </a:prstGeom>
          <a:solidFill>
            <a:srgbClr val="EDE7F6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20" y="6144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A1B9A"/>
                </a:solidFill>
              </a:rPr>
              <a:t>Visualisation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0" y="61447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16161"/>
                </a:solidFill>
              </a:rPr>
              <a:t>docker compose up -d --build   ·   RAM : 5 GB minimum   ·   Docker Desktop 4.x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Monitoring — Prometheus + Grafana · Observabilité complète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68680"/>
            <a:ext cx="5486400" cy="5440680"/>
          </a:xfrm>
          <a:prstGeom prst="roundRect">
            <a:avLst/>
          </a:prstGeom>
          <a:solidFill>
            <a:srgbClr val="FFEBEB"/>
          </a:solidFill>
          <a:ln w="228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5486400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89611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533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1938528"/>
            <a:ext cx="3657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938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</a:rPr>
              <a:t>http://localhost:9090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Collecte métriques toutes les 15s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809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CPU / RAM / réseau par 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112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Métriques Kafka (messages/sec)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Métriques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Alertes configurables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02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Données temporelles (TSDB)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868680"/>
            <a:ext cx="5486400" cy="544068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868680"/>
            <a:ext cx="5486400" cy="9601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89611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533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1938528"/>
            <a:ext cx="3657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938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100"/>
                </a:solidFill>
              </a:rPr>
              <a:t>http://localhost:3001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450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Source : PostgreSQL + 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9809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Dashboard News Data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5112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13 panels analytiques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0416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KPIs temps réel (auto-refresh)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Provisioning automatique 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102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✓  Plugins : PostgreSQL natif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Choix Technologiques — Justifications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18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109960" cy="4754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Composant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9601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9601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Alternatives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960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Justification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344168"/>
            <a:ext cx="1110996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270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Message Broker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5270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Apache Kafka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5100"/>
                </a:solidFill>
              </a:rPr>
              <a:t>RabbitMQ · 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5270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Partitions · Rétention · Haute dispo · Scalabilité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29968"/>
            <a:ext cx="11109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128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Object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2128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MinIO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2128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5100"/>
                </a:solidFill>
              </a:rPr>
              <a:t>HDFS · AWS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212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API S3 · Local · Open-source · Docker native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715768"/>
            <a:ext cx="1110996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986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2898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Apache Airflow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898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5100"/>
                </a:solidFill>
              </a:rPr>
              <a:t>NiFi · Cron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8986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DAGs Python · UI · Retry auto · Alertes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401568"/>
            <a:ext cx="11109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844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Data Warehouse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5844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5844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5100"/>
                </a:solidFill>
              </a:rPr>
              <a:t>MySQL · BigQuery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5844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ACID · JSON · Extensions analytiques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087368"/>
            <a:ext cx="1110996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2702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Visualisation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2702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Grafana + Metabase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2702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5100"/>
                </a:solidFill>
              </a:rPr>
              <a:t>PowerBI · Tableau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2702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Open-source · PostgreSQL natif · Alertes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773168"/>
            <a:ext cx="11109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9560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Transformation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9560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Python + Pandas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9560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5100"/>
                </a:solidFill>
              </a:rPr>
              <a:t>Spark · dbt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9560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Simple · Maîtrisé · Ecosystème riche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458968"/>
            <a:ext cx="1110996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6418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Conteneurisation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6418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Docker +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6418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5100"/>
                </a:solidFill>
              </a:rPr>
              <a:t>Kubernetes (K8s)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641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Déploiement local reproductible · 1 commande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Difficultés Rencontrées &amp; Solutions — Approche méthodique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6868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868680"/>
            <a:ext cx="553212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978408"/>
            <a:ext cx="411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9966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99669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InconsistentClusterIdException Kafka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" y="1554480"/>
            <a:ext cx="5257800" cy="548640"/>
          </a:xfrm>
          <a:prstGeom prst="roundRect">
            <a:avLst/>
          </a:prstGeom>
          <a:solidFill>
            <a:srgbClr val="FFEBEB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0000"/>
                </a:solidFill>
              </a:rPr>
              <a:t>❌  Kafka refusait de démarrer après redémarrage Docker (volumes corrompus)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" y="2167128"/>
            <a:ext cx="5257800" cy="804672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22199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✅  Suppression des volumes Docker corrompus + recréation complète du cluster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86868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868680"/>
            <a:ext cx="553212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978408"/>
            <a:ext cx="411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966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100"/>
                </a:solidFill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99669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Docker Desktop — Manque de 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1554480"/>
            <a:ext cx="5257800" cy="548640"/>
          </a:xfrm>
          <a:prstGeom prst="roundRect">
            <a:avLst/>
          </a:prstGeom>
          <a:solidFill>
            <a:srgbClr val="FFEBEB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0000"/>
                </a:solidFill>
              </a:rPr>
              <a:t>❌  Containers crashaient aléatoirement (OOM Killer actif sur plusieurs services)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2167128"/>
            <a:ext cx="5257800" cy="804672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22199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✅  Augmentation limite RAM à 5 GB + ajout mem_limit par service dans docker-compose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52044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3520440"/>
            <a:ext cx="553212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3776" y="3630168"/>
            <a:ext cx="411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36484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A1B9A"/>
                </a:solidFill>
              </a:rPr>
              <a:t>#3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64845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Grafana affichait 'No data'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" y="4206240"/>
            <a:ext cx="5257800" cy="548640"/>
          </a:xfrm>
          <a:prstGeom prst="roundRect">
            <a:avLst/>
          </a:prstGeom>
          <a:solidFill>
            <a:srgbClr val="FFEBEB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4251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0000"/>
                </a:solidFill>
              </a:rPr>
              <a:t>❌  Datasource PostgreSQL mal configuré (uid en conflit + jsonData.database manquant)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" y="4818888"/>
            <a:ext cx="5257800" cy="804672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87375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✅  Correction postgres.yml : suppression uid conflit + ajout jsonData.database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52044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520440"/>
            <a:ext cx="553212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45936" y="3630168"/>
            <a:ext cx="411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36484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#4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64845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Airflow réseau introuvable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3368" y="4206240"/>
            <a:ext cx="5257800" cy="548640"/>
          </a:xfrm>
          <a:prstGeom prst="roundRect">
            <a:avLst/>
          </a:prstGeom>
          <a:solidFill>
            <a:srgbClr val="FFEBEB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4251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0000"/>
                </a:solidFill>
              </a:rPr>
              <a:t>❌  airflow-init ne voyait pas postgres / kafka au démarrage (network scope manquant)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3368" y="4818888"/>
            <a:ext cx="5257800" cy="804672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487375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✅  Ajout du réseau news-net dans airflow-common dans docker-compose.yml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Démonstration Fonctionnelle — Pipeline complet bout en 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280160"/>
            <a:ext cx="160020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3727" y="1280160"/>
            <a:ext cx="16002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135331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193852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Scraping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2395728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Python +
BeautifulSoup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503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6535" y="1280160"/>
            <a:ext cx="160020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56535" y="1280160"/>
            <a:ext cx="160020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6535" y="135331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6535" y="193852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5100"/>
                </a:solidFill>
              </a:rP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7975" y="2395728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Streaming
news-articles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3311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9343" y="1280160"/>
            <a:ext cx="160020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9343" y="1280160"/>
            <a:ext cx="1600200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9343" y="135331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9343" y="193852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360C"/>
                </a:solidFill>
              </a:rPr>
              <a:t>MinIO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0783" y="2395728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Bronze
900 fichiers
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6119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2151" y="1280160"/>
            <a:ext cx="160020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2151" y="1280160"/>
            <a:ext cx="1600200" cy="5943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2151" y="135331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51" y="193852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7474F"/>
                </a:solidFill>
              </a:rPr>
              <a:t>ETL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3591" y="2395728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Silver
Parquet
nettoyé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8927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4959" y="1280160"/>
            <a:ext cx="160020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4959" y="1280160"/>
            <a:ext cx="160020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4959" y="135331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4959" y="193852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A1B9A"/>
                </a:solidFill>
              </a:rPr>
              <a:t>PostgreSQL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6399" y="2395728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DWH
173 articles
chargés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1735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16161"/>
                </a:solidFill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27767" y="1280160"/>
            <a:ext cx="160020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27767" y="1280160"/>
            <a:ext cx="160020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7767" y="135331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7767" y="193852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Grafana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9207" y="2395728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Dashboard
13 panels
Live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3840480"/>
            <a:ext cx="11368735" cy="2487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3840480"/>
            <a:ext cx="11368735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88620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Interfaces disponibles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434840"/>
            <a:ext cx="2127443" cy="178308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507992"/>
            <a:ext cx="21274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Airflow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828032"/>
            <a:ext cx="2127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24242"/>
                </a:solidFill>
              </a:rPr>
              <a:t>localhost:8080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102352"/>
            <a:ext cx="212744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16161"/>
                </a:solidFill>
              </a:rPr>
              <a:t>admin / admin123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21803" y="4434840"/>
            <a:ext cx="2127443" cy="178308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21803" y="4507992"/>
            <a:ext cx="21274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MinIO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21803" y="4828032"/>
            <a:ext cx="2127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24242"/>
                </a:solidFill>
              </a:rPr>
              <a:t>localhost:9200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21803" y="5102352"/>
            <a:ext cx="212744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16161"/>
                </a:solidFill>
              </a:rPr>
              <a:t>minioadmin / minioadmin123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40686" y="4434840"/>
            <a:ext cx="2127443" cy="178308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40686" y="4507992"/>
            <a:ext cx="21274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Kafka UI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40686" y="4828032"/>
            <a:ext cx="2127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24242"/>
                </a:solidFill>
              </a:rPr>
              <a:t>localhost:8090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40686" y="5102352"/>
            <a:ext cx="212744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16161"/>
                </a:solidFill>
              </a:rPr>
              <a:t>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59569" y="4434840"/>
            <a:ext cx="2127443" cy="178308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59569" y="4507992"/>
            <a:ext cx="21274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Grafana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9569" y="4828032"/>
            <a:ext cx="2127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24242"/>
                </a:solidFill>
              </a:rPr>
              <a:t>localhost:3001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9569" y="5102352"/>
            <a:ext cx="212744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16161"/>
                </a:solidFill>
              </a:rPr>
              <a:t>admin / admin123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78452" y="4434840"/>
            <a:ext cx="2127443" cy="1783080"/>
          </a:xfrm>
          <a:prstGeom prst="roundRect">
            <a:avLst/>
          </a:prstGeom>
          <a:solidFill>
            <a:srgbClr val="E3F2FD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8452" y="4507992"/>
            <a:ext cx="21274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Metabase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78452" y="4828032"/>
            <a:ext cx="2127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24242"/>
                </a:solidFill>
              </a:rPr>
              <a:t>localhost:3000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8452" y="5102352"/>
            <a:ext cx="212744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16161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 — Résultats · Points Forts ·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21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914400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60120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4475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Articles Bronze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914400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960120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44475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Articles DWH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2112" y="914400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960120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44475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Sources actives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1883664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929384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4140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Mots-clés indexés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1883664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1929384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4140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Pays couverts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82112" y="1883664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1929384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24140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Langues (EN/AR)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2852928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2898648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33832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Taux qualité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3080" y="2852928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2898648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33832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Panels Grafana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82112" y="2852928"/>
            <a:ext cx="123444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82112" y="2898648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2112" y="33832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Services Docker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896112"/>
            <a:ext cx="361188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896112"/>
            <a:ext cx="3611880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9418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Points Forts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157276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▶  Architecture distribuée moderne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208483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▶  Pipeline 100% automatisé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2596896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▶  Streaming Kafka temps réel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108960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▶  Qualité et gouvernance intégrées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621024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▶  Monitoring Prometheus complet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13308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▶  Déploiement Docker reproductible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64515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▶  Code versionné Git (55 fichiers)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157216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▶  Documentation complète + K8s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896112"/>
            <a:ext cx="3584448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896112"/>
            <a:ext cx="3584448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9418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 Perspectives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157276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→  Déploiement Kubernetes (manifests prêts)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08483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→  Analyse sentiment NLP sur les articles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596896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→  Détection fake news via 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108960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→  Alertes tendances temps réel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621024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→  API REST exposant les dashboards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13308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→  Kafka multi-broker cluster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64515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→  Spark pour gros volumes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157216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→  Intégration LLM (résumés auto)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5870448"/>
            <a:ext cx="11423599" cy="74980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6016752"/>
            <a:ext cx="110029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</a:rPr>
              <a:t>Projet Big Data complet · 14 services Docker · 173 articles analysés · Pipeline automatisé 24h/24 · Architecture production-ready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Livrables — Section 12 · Tous les livrables remis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91440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914400"/>
            <a:ext cx="2560320" cy="685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987552"/>
            <a:ext cx="347472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10058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64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565C0"/>
                </a:solidFill>
              </a:rPr>
              <a:t>Code Source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0848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16161"/>
                </a:solidFill>
              </a:rPr>
              <a:t>55 fichiers · branch master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91440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914400"/>
            <a:ext cx="256032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987552"/>
            <a:ext cx="347472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10058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664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65100"/>
                </a:solidFill>
              </a:rPr>
              <a:t>Schéma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0848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16161"/>
                </a:solidFill>
              </a:rPr>
              <a:t>2 diagrammes PNG professionnels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91440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914400"/>
            <a:ext cx="256032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987552"/>
            <a:ext cx="347472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0058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1664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7D32"/>
                </a:solidFill>
              </a:rPr>
              <a:t>Docker Compose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0848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16161"/>
                </a:solidFill>
              </a:rPr>
              <a:t>docker-compose.yml · 14 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07424" y="91440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07424" y="914400"/>
            <a:ext cx="2560320" cy="685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1005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☸️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228832" y="987552"/>
            <a:ext cx="347472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28832" y="10058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1664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6A1B9A"/>
                </a:solidFill>
              </a:rPr>
              <a:t>Kubernetes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20848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16161"/>
                </a:solidFill>
              </a:rPr>
              <a:t>k8s/ — 8 manifests YAML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342900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3429000"/>
            <a:ext cx="2560320" cy="685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05456" y="3502152"/>
            <a:ext cx="347472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5456" y="35204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41788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796B"/>
                </a:solidFill>
              </a:rPr>
              <a:t>Documentation Technique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45994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16161"/>
                </a:solidFill>
              </a:rPr>
              <a:t>Installation + usage complet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342900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3429000"/>
            <a:ext cx="2560320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13248" y="3502152"/>
            <a:ext cx="347472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13248" y="35204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1788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62828"/>
                </a:solidFill>
              </a:rPr>
              <a:t>Dashboards 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45994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16161"/>
                </a:solidFill>
              </a:rPr>
              <a:t>13 panels · localhost:3001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9632" y="342900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9632" y="3429000"/>
            <a:ext cx="2560320" cy="685800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21040" y="3502152"/>
            <a:ext cx="347472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35204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9632" y="41788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782800"/>
                </a:solidFill>
              </a:rPr>
              <a:t>Démo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1072" y="45994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16161"/>
                </a:solidFill>
              </a:rPr>
              <a:t>demo.ps1 PowerShell · bout en bout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07424" y="3429000"/>
            <a:ext cx="25603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07424" y="3429000"/>
            <a:ext cx="2560320" cy="6858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7424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228832" y="3502152"/>
            <a:ext cx="347472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28832" y="35204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07424" y="41788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237E"/>
                </a:solidFill>
              </a:rPr>
              <a:t>Présentation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98864" y="45994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16161"/>
                </a:solidFill>
              </a:rPr>
              <a:t>Ce fichier PPTX · 25 slides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Screenshots — Apache Airflow · Orchestration (3 DAGs actifs)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23 / 25</a:t>
            </a:r>
          </a:p>
        </p:txBody>
      </p:sp>
      <p:pic>
        <p:nvPicPr>
          <p:cNvPr id="7" name="Picture 6" descr="airflow_d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41248"/>
            <a:ext cx="562356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584448"/>
            <a:ext cx="5623560" cy="29260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62102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DAGs List</a:t>
            </a:r>
          </a:p>
        </p:txBody>
      </p:sp>
      <p:pic>
        <p:nvPicPr>
          <p:cNvPr id="10" name="Picture 9" descr="airflow_scraping_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841248"/>
            <a:ext cx="5623560" cy="2743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72200" y="3584448"/>
            <a:ext cx="5623560" cy="29260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362102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scraping_batch</a:t>
            </a:r>
          </a:p>
        </p:txBody>
      </p:sp>
      <p:pic>
        <p:nvPicPr>
          <p:cNvPr id="13" name="Picture 12" descr="airflow_scraping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49039"/>
            <a:ext cx="5623560" cy="2743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11480" y="6492239"/>
            <a:ext cx="5623560" cy="29260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28815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Graph View</a:t>
            </a:r>
          </a:p>
        </p:txBody>
      </p:sp>
      <p:pic>
        <p:nvPicPr>
          <p:cNvPr id="16" name="Picture 15" descr="airflow_transform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49039"/>
            <a:ext cx="5623560" cy="27432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72200" y="6492239"/>
            <a:ext cx="5623560" cy="29260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6528815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transformation_pipeline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Screenshots — MinIO Data Lake (Bronze / Silver / Gold) · Kafka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24 / 25</a:t>
            </a:r>
          </a:p>
        </p:txBody>
      </p:sp>
      <p:pic>
        <p:nvPicPr>
          <p:cNvPr id="7" name="Picture 6" descr="minio_bron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41248"/>
            <a:ext cx="5623560" cy="2560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401568"/>
            <a:ext cx="5623560" cy="29260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43814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Bronze — 900+ fichiers JSON</a:t>
            </a:r>
          </a:p>
        </p:txBody>
      </p:sp>
      <p:pic>
        <p:nvPicPr>
          <p:cNvPr id="10" name="Picture 9" descr="kafka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841248"/>
            <a:ext cx="5623560" cy="2560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72200" y="3401568"/>
            <a:ext cx="5623560" cy="29260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343814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Kafka UI — Topic news-articles</a:t>
            </a:r>
          </a:p>
        </p:txBody>
      </p:sp>
      <p:pic>
        <p:nvPicPr>
          <p:cNvPr id="13" name="Picture 12" descr="minio_sil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11880"/>
            <a:ext cx="5623560" cy="2560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11480" y="6172200"/>
            <a:ext cx="5623560" cy="29260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208776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Silver — Parquet nettoyés</a:t>
            </a:r>
          </a:p>
        </p:txBody>
      </p:sp>
      <p:pic>
        <p:nvPicPr>
          <p:cNvPr id="16" name="Picture 15" descr="minio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611880"/>
            <a:ext cx="5623560" cy="2560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72200" y="6172200"/>
            <a:ext cx="5623560" cy="29260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6208776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Gold — 6 agrégats Parquet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Screenshots — Grafana Dashboard · 13 panels analytiques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463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DEFB"/>
                </a:solidFill>
              </a:rPr>
              <a:t>25 / 25</a:t>
            </a:r>
          </a:p>
        </p:txBody>
      </p:sp>
      <p:pic>
        <p:nvPicPr>
          <p:cNvPr id="7" name="Picture 6" descr="grafana_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41248"/>
            <a:ext cx="11430000" cy="2651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493008"/>
            <a:ext cx="1143000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52958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KPIs · Articles par Source · Distribution des Langues</a:t>
            </a:r>
          </a:p>
        </p:txBody>
      </p:sp>
      <p:pic>
        <p:nvPicPr>
          <p:cNvPr id="10" name="Picture 9" descr="grafana_dashboard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58768"/>
            <a:ext cx="11430000" cy="2651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6510528"/>
            <a:ext cx="1143000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Top Mots-clés · Catégories · Tendances temporelles · Pipeline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