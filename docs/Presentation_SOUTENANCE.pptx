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3" r:id="rId24"/>
    <p:sldId id="284" r:id="rId25"/>
    <p:sldId id="285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9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42199" y="5212080"/>
            <a:ext cx="11987784" cy="16459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188720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B6D4"/>
                </a:solidFill>
              </a:rPr>
              <a:t>ARCHITECTURE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Big Data pour l'Analyse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des Articles de Presse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AAA"/>
                </a:solidFill>
              </a:rPr>
              <a:t>Kafka  ·  Airflow  ·  MinIO  ·  PostgreSQL  ·  Grafana  · 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Nom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5394960"/>
            <a:ext cx="29612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7A8AAA"/>
                </a:solidFill>
              </a:rPr>
              <a:t>HIBATALLAH BAETOUTY &amp;&amp; ABDELALI SAHIA</a:t>
            </a:r>
            <a:endParaRPr sz="1200" b="0" i="0" dirty="0">
              <a:solidFill>
                <a:srgbClr val="7A8AA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Groupe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394960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7A8AAA"/>
                </a:solidFill>
              </a:rPr>
              <a:t>G1 </a:t>
            </a:r>
            <a:endParaRPr sz="1200" b="0" i="0" dirty="0">
              <a:solidFill>
                <a:srgbClr val="7A8AA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61648" y="535057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6B6D4"/>
                </a:solidFill>
              </a:rPr>
              <a:t>Date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5404673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7A8AAA"/>
                </a:solidFill>
              </a:rPr>
              <a:t>15/05/2026</a:t>
            </a:r>
            <a:endParaRPr sz="1200" b="0" i="0" dirty="0">
              <a:solidFill>
                <a:srgbClr val="7A8AA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01  </a:t>
            </a:r>
            <a:r>
              <a:rPr sz="1600">
                <a:solidFill>
                  <a:srgbClr val="222222"/>
                </a:solidFill>
              </a:rPr>
              <a:t>Contexte &amp; Objectifs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02  </a:t>
            </a:r>
            <a:r>
              <a:rPr sz="1600">
                <a:solidFill>
                  <a:srgbClr val="222222"/>
                </a:solidFill>
              </a:rPr>
              <a:t>Sources de Données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03  </a:t>
            </a:r>
            <a:r>
              <a:rPr sz="1600">
                <a:solidFill>
                  <a:srgbClr val="222222"/>
                </a:solidFill>
              </a:rPr>
              <a:t>Architecture Globale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04  </a:t>
            </a:r>
            <a:r>
              <a:rPr sz="1600">
                <a:solidFill>
                  <a:srgbClr val="222222"/>
                </a:solidFill>
              </a:rPr>
              <a:t>Data Ingestion — Kafka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05  </a:t>
            </a:r>
            <a:r>
              <a:rPr sz="1600">
                <a:solidFill>
                  <a:srgbClr val="222222"/>
                </a:solidFill>
              </a:rPr>
              <a:t>Data Lake — MinIO Médaillon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06  </a:t>
            </a:r>
            <a:r>
              <a:rPr sz="1600">
                <a:solidFill>
                  <a:srgbClr val="222222"/>
                </a:solidFill>
              </a:rPr>
              <a:t>Transformation des Données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07  </a:t>
            </a:r>
            <a:r>
              <a:rPr sz="1600">
                <a:solidFill>
                  <a:srgbClr val="222222"/>
                </a:solidFill>
              </a:rPr>
              <a:t>Orchestration — Airflow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08  </a:t>
            </a:r>
            <a:r>
              <a:rPr sz="1600">
                <a:solidFill>
                  <a:srgbClr val="222222"/>
                </a:solidFill>
              </a:rPr>
              <a:t>Data Warehouse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09  </a:t>
            </a:r>
            <a:r>
              <a:rPr sz="1600">
                <a:solidFill>
                  <a:srgbClr val="222222"/>
                </a:solidFill>
              </a:rPr>
              <a:t>Visualisation — Grafana &amp; Metabase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10  </a:t>
            </a:r>
            <a:r>
              <a:rPr sz="1600">
                <a:solidFill>
                  <a:srgbClr val="222222"/>
                </a:solidFill>
              </a:rPr>
              <a:t>Qualité &amp; Gouvernance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11  </a:t>
            </a:r>
            <a:r>
              <a:rPr sz="1600">
                <a:solidFill>
                  <a:srgbClr val="222222"/>
                </a:solidFill>
              </a:rPr>
              <a:t>Déploiement — Docker &amp; Kubernetes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12  </a:t>
            </a:r>
            <a:r>
              <a:rPr sz="1600">
                <a:solidFill>
                  <a:srgbClr val="222222"/>
                </a:solidFill>
              </a:rPr>
              <a:t>Monitoring — Prometheus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13  </a:t>
            </a:r>
            <a:r>
              <a:rPr sz="1600">
                <a:solidFill>
                  <a:srgbClr val="222222"/>
                </a:solidFill>
              </a:rPr>
              <a:t>Choix Technologiques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14  </a:t>
            </a:r>
            <a:r>
              <a:rPr sz="1600">
                <a:solidFill>
                  <a:srgbClr val="222222"/>
                </a:solidFill>
              </a:rPr>
              <a:t>Difficultés &amp; Solutions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15  </a:t>
            </a:r>
            <a:r>
              <a:rPr sz="1600">
                <a:solidFill>
                  <a:srgbClr val="222222"/>
                </a:solidFill>
              </a:rPr>
              <a:t>Démonstration Fonctionnelle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73E8"/>
                </a:solidFill>
              </a:rPr>
              <a:t>16  </a:t>
            </a:r>
            <a:r>
              <a:rPr sz="1600">
                <a:solidFill>
                  <a:srgbClr val="222222"/>
                </a:solidFill>
              </a:rPr>
              <a:t>Conclusion &amp; Livrables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Pourquoi une plateforme d'analyse de presse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6928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63EB"/>
                </a:solidFill>
              </a:rPr>
              <a:t>Volume massif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Des milliers d'articles publiés chaque jour,
impossibles à analyser manuellement.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669280" cy="2148840"/>
          </a:xfrm>
          <a:prstGeom prst="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66928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</a:rPr>
              <a:t>Tendances floues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Sans outil, identifier les sujets dominants
prend des heures de lecture.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5669280" cy="214884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566928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Besoin temps réel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Les événements évoluent vite — une
analyse tardive perd toute valeur.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794760"/>
            <a:ext cx="5669280" cy="2148840"/>
          </a:xfrm>
          <a:prstGeom prst="rec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3794760"/>
            <a:ext cx="566928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Sources multiples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Agréger presse marocaine et
internationale nécessite une infra unifiée.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Objectifs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6 axes techniques couverts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749039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581912"/>
            <a:ext cx="548640" cy="548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Collecter automatiquement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Scraping 8 sources toutes les heures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749039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1581912"/>
            <a:ext cx="54864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84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Pipeline Big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Kafka streaming + Airflow orchestration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417320"/>
            <a:ext cx="3749039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66760" y="1581912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3076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Architecture Médaillon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Bronze → Silver → Gold dans MinIO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3749039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4050791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Data Warehouse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Modèle dimensionnel 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97680" y="3886200"/>
            <a:ext cx="3749039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34840" y="4050791"/>
            <a:ext cx="54864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9884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Qualité &amp; Gouvernance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Contrôles automatisés + data lineage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2960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229600" y="3886200"/>
            <a:ext cx="3749039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366760" y="4050791"/>
            <a:ext cx="54864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076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Visualisation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Grafana 13 panels + Metabase BI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Sources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5 sites — marocains &amp; internationaux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6868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Marocains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303520" cy="1170432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🇲🇦  Hespress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640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2505456"/>
            <a:ext cx="4937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 / fr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Politique · Sport · Économie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5303520" cy="1170432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🇲🇦  Akhbarona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640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3831336"/>
            <a:ext cx="4937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130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Actualité générale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105156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3898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3EB"/>
                </a:solidFill>
              </a:rPr>
              <a:t>Internationaux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74519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874519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🇬🇧  BBC News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468879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250545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Monde · Tech · Science · Sport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200400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291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🇺🇸  CNN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94760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83133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813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Monde · Politique · Business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526279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4526279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6177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🇬🇧  Reuters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120640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515721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1389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Finance · Politique · Marchés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59552"/>
            <a:ext cx="11430000" cy="9875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56327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463EB"/>
                </a:solidFill>
              </a:rPr>
              <a:t>Données collectées :   Titre  ·  Auteur  ·  Date  ·  Catégorie  ·  Contenu  ·  Source  ·  URL  ·  Langue détectée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Architecture Globale</a:t>
            </a:r>
          </a:p>
        </p:txBody>
      </p:sp>
      <p:pic>
        <p:nvPicPr>
          <p:cNvPr id="6" name="Picture 5" descr="architecture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15568"/>
            <a:ext cx="119786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Deux modes d'ingestion complémentaires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463EB"/>
                </a:solidFill>
              </a:rPr>
              <a:t>⏱  Batch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Scraping planifié toutes les heures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Orchestré par Apache Airflow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DAG : scraping_batch (@hourly)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8 sources scrapées en parallèle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Chaque article envoyé vers Kafka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530352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8AAA"/>
                </a:solidFill>
              </a:rPr>
              <a:t>Technologie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Apache Airflow
scraping_batch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463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⚡  Streaming 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Chaque article = 1 message Kafka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Topic : news-articles (3 partitions)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Consumer lit en continu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233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Stockage immédiat Bronze (MinIO)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Rétention : 7 jours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120640"/>
            <a:ext cx="530352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8AAA"/>
                </a:solidFill>
              </a:rPr>
              <a:t>Technologie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Apache Kafka
news-articles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Lake — MinIO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Object Storage open-source compatible S3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4466"/>
                </a:solidFill>
              </a:rPr>
              <a:t>MinIO — Déployé via Docker · API S3 · Interface console web · Volumes persistants · 3 buckets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3749039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10058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bronze/raw/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JSON brut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Articles tels que scrapés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Historique complet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Aucune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900+ fichiers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1605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768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2395728"/>
            <a:ext cx="3749039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2487168"/>
            <a:ext cx="100584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0799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silver/cleaned/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Parquet (Snappy)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HTML supprimé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Texte normalisé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Langue détectée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Dédupliqué par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1605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0" y="2395728"/>
            <a:ext cx="3749039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366760" y="2487168"/>
            <a:ext cx="1005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3991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gold/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Parquet optimisé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Agrégations pré-calculées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Articles/source/jour/pays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Top mots-clés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20 fichiers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Architecture Médaillon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Bronze  →  Silver  →  Gold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512064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</a:rPr>
              <a:t>🟫 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Brutes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JSON bruts depuis Kafka Consumer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Historique complet conservé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Aucune modification des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Partitionné par date YYYY/MM/DD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900+ fichiers — 8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65760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8AAA"/>
                </a:solidFill>
              </a:rPr>
              <a:t>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9392" y="1417320"/>
            <a:ext cx="3749039" cy="512064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79392" y="1417320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16552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⬜ 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Nettoyées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Suppression des balises 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Normalisation Unicode + espaces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Détection langue (langdetect)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Déduplication par URL unique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13 fichiers Parquet compressés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365760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8AAA"/>
                </a:solidFill>
              </a:rPr>
              <a:t>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38744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38744" y="1417320"/>
            <a:ext cx="3749039" cy="512064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38744" y="141732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75904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🥇 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Analytiques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Agrégations pré-calculées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Articles par source / pays / jour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Top mots-clés (stopwords retirés)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Distribution des langues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20 fichiers Parquet — prêt DWH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6510528"/>
            <a:ext cx="1156716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54710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ETL Python :  bronze_to_silver.py  ·  silver_to_gold.py  |  Orchestration : Apache Airflow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Transformation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ETL Python — 6 étapes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609344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3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Lecture 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Lecture fichiers JSON
depuis MinIO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392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9392" y="1444752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16552" y="1609344"/>
            <a:ext cx="502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71416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Nettoyage 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BeautifulSoup retire
toutes les balises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38744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38744" y="1444752"/>
            <a:ext cx="3749039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75904" y="1609344"/>
            <a:ext cx="502920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30768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Normalisation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Unicode · Espaces
Caractères spéciaux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913632"/>
            <a:ext cx="3749039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078224"/>
            <a:ext cx="5029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2063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Détection Langue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langdetect
(EN / AR / FR)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79392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79392" y="3913632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16552" y="4078224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71416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6631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Déduplication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6631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Hash URL unique
anti-doublons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38744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238744" y="3913632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375904" y="4078224"/>
            <a:ext cx="5029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0768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Écriture Silver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4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Parquet Snappy
vers MinIO silver/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Orchestration — Apache Airflow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3 DAGs planifiés et supervisés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3749039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90472"/>
            <a:ext cx="77724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scraping_batch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3EB"/>
                </a:solidFill>
              </a:rPr>
              <a:t>⏰  Schedule : @hourly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Toutes les heures automatiquement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Lance 8 scrapers en parallèle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Chaque article → KafkaProducer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Consumer → MinIO Bronze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79392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79392" y="1389888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16552" y="1490472"/>
            <a:ext cx="7772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9704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transformation_pipeline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6552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7992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⏰  Schedule : @daily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Lit les fichiers Bronze (MinIO)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ETL : nettoyage + normalisation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Détection langue + dédup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Parquet Silver + Gold → MinIO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38744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38744" y="1389888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375904" y="1490472"/>
            <a:ext cx="7772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49056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warehouse_load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67344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⏰  Schedule : @daily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Lit Silver + Gold depuis MinIO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Charge fact_articles + dimensions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Met à jour tables agrégées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Log qualité → data_quality_log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0" y="651967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Interface Airflow  →  http://localhost:8080  |  admin / admin123  |  Airflow 2.8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Warehouse —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Modèle en étoile (Star Schema)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64008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6400800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Schéma en Étoile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┌─────────────┐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dim_date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date_id PK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day/month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year/qtr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└──────┬──────┘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┌──────────┐        │         ┌─────────────┐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│dim_source├────fact_articles─┤dim_category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└──────────┘   title · author └─────────────┘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content ·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406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published_at ·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6071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word_count · source_id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371600"/>
            <a:ext cx="46634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0" y="1371600"/>
            <a:ext cx="4663440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14630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Tables Analytiques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938528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0" y="200253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63EB"/>
                </a:solidFill>
              </a:rPr>
              <a:t>agg_articles_by_source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21284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Articles par source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505456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0" y="256946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agg_articles_by_day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77977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Tendance temporelle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072384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06640" y="313639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agg_articles_by_country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4670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Articles par pays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639312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06640" y="37033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agg_articles_by_category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9136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Par catégorie / thème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206240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0" y="427024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agg_top_keywords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480559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Top 131 mots-clés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4773168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06640" y="483717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agg_language_distribution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04748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Distribution langues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5340096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06640" y="540410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8AAA"/>
                </a:solidFill>
              </a:rPr>
              <a:t>pipeline_runs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61441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Historique pipelines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5907024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06640" y="597103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8AAA"/>
                </a:solidFill>
              </a:rPr>
              <a:t>data_quality_log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Rapport qualité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Visualisation —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13 panels analytiques — données réelles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🟢 Total 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173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06039" y="1417320"/>
            <a:ext cx="2212848" cy="160020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06039" y="1417320"/>
            <a:ext cx="2212848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747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🔵 Sources Actives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37759" y="1417320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37759" y="1417320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19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🟠 Mots Clés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69479" y="1417320"/>
            <a:ext cx="2212848" cy="16002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69479" y="1417320"/>
            <a:ext cx="221284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1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🟣 Taux Qualité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75.7%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01200" y="1417320"/>
            <a:ext cx="2212848" cy="16002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01200" y="1417320"/>
            <a:ext cx="221284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0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⬜ Dernier Scraping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14/05/2026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3172968"/>
            <a:ext cx="2212848" cy="160020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3172968"/>
            <a:ext cx="2212848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📰 Par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BBC·Reuters·CNN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606039" y="3172968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06039" y="3172968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9747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🌍 Par Pays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7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UK·USA·Morocco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5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937759" y="3172968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937759" y="3172968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19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🗣 Langues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19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EN:171 · AR:2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7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269479" y="3172968"/>
            <a:ext cx="2212848" cy="1600200"/>
          </a:xfrm>
          <a:prstGeom prst="rect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269479" y="3172968"/>
            <a:ext cx="2212848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6091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📈 Tendance / Jour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1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21 jours hist.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601200" y="3172968"/>
            <a:ext cx="2212848" cy="16002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601200" y="3172968"/>
            <a:ext cx="221284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92640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🔑 Top Mots Clés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minister·labour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74320" y="4928616"/>
            <a:ext cx="2212848" cy="16002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74320" y="4928616"/>
            <a:ext cx="221284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5760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📂 Catégories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World·Politics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39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606039" y="4928616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606039" y="4928616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697479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⚙️  Pipeline Runs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97479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4 pipelines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37759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937759" y="4928616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937759" y="4928616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199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✅ Qualité rapport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199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passed/failed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Grafana  →  http://localhost:3001  |  admin / admin123  |  Dashboard : News Data Platform - Complet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Qualité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Contrôles automatisés — 3 dimensions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8229600" cy="50292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Tests Implémentés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8163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Contrôle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20240"/>
            <a:ext cx="19019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Dimension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920240"/>
            <a:ext cx="354787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Règle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23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Titre vide ou trop court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478024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9272" y="251460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231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len(title) &gt;=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26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Date manquante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980944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9272" y="301752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260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published_at IS NOT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Contenu trop court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483864"/>
            <a:ext cx="16916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9272" y="352044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4290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len(content) &gt;=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9319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URL invalide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986783"/>
            <a:ext cx="16916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19272" y="4023359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319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url.startswith('http')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434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Source manquante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489703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19272" y="4526279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4348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source IS NOT NULL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9377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Langue incohérente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4992624"/>
            <a:ext cx="169164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19272" y="502920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Cohérence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377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langue ↔ source attendue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137160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961120" y="1371600"/>
            <a:ext cx="2834640" cy="50292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961120" y="1371600"/>
            <a:ext cx="2834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98280" y="1463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Résultats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20116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239572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4D"/>
                </a:solidFill>
              </a:rPr>
              <a:t>173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30632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Valides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44728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131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114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Taux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49884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75.7%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5166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55040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463EB"/>
                </a:solidFill>
              </a:rPr>
              <a:t>PostgreSQL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Gouvernance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Traçabilité · Documentation · Transparence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Data Lineage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463EB"/>
                </a:solidFill>
              </a:rPr>
              <a:t>[EXTERNE] BBC·CNN·Reuters·Hespress·Akhbarona  →  [BRONZE] JSON  →  [SILVER] Parquet  →  [GOLD] Agrégats  →  [DWH] 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2834640" cy="393192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Schéma de chaque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Format + localisation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Pipeline producteur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governance/lineage.py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37560" y="2560320"/>
            <a:ext cx="2834640" cy="393192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37560" y="2560320"/>
            <a:ext cx="283464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Traçabilité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Source → destination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lineage.jsonl log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Catalogue complet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5 datasets documentés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2560320"/>
            <a:ext cx="2834640" cy="393192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2560320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Suivi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Table pipeline_runs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status + records_in/out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Durée d'exécution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Historique complet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281160" y="2560320"/>
            <a:ext cx="2834640" cy="393192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281160" y="2560320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Qualité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data_quality_log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Taux validation 75.7%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Issues détectées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Par pipeline + 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Déploiement —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14 services · 1 commande · Réseau isolé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zookeeper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Coordination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:2181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64408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4408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74136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Message Broker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47288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:9092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54496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54496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kafka-ui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Interface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7376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:8090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44584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44584" y="1444752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54312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minio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Object 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54312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27464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:9200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74320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74320" y="2999232"/>
            <a:ext cx="283464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postgres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Data Warehouse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:5432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64408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64408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64408" y="2999232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74136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scraper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4136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Web Scraping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74136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47288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54496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54496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54496" y="2999232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64224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consumer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Kafka→MinIO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64224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37376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44584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244584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244584" y="2999232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54312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airflow-webserver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4312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Orchestration UI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54312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27464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:8080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74320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74320" y="4553712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84048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airflow-scheduler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DAG Scheduler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264408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264408" y="455371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374136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grafana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74136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Dashboards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74136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447288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:3001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54496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254496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254496" y="4553712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364224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4224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Métriques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64224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437376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:9090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docker compose up -d --build   ·   RAM : 5 GB minimum   ·   Docker Desktop 4.x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Monitoring — Prometheus +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Observabilité complète de la plateforme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4466"/>
                </a:solidFill>
              </a:rPr>
              <a:t>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Collecte métriques toutes les 15s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CPU / RAM / réseau par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Métriques Kafka (messages/sec)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Métriques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Alertes configurables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Données temporelles (TSDB)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97880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http://localhost:9090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56692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</a:rPr>
              <a:t>Grafana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Source : PostgreSQL + Prometheus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7432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Dashboard News Data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375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13 panels analytiques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319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KPIs temps réel (auto-refresh)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262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Provisioning automatique 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Plugins : PostgreSQL natif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897880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http://localhost:3001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Choix Technologiques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Pourquoi ces technologies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205740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Composant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89888"/>
            <a:ext cx="178308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143560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Choix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89888"/>
            <a:ext cx="224028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435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Alternatives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389888"/>
            <a:ext cx="493776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79" y="1435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Justification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920240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14600" y="1920240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14600" y="1920240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1920240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1920240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20840" y="1920240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20840" y="1920240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08483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Message Broker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103120"/>
            <a:ext cx="164592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79192" y="213969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 Kafka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20848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RabbitMQ ·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Partitions · Rétention · Scalabilité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70048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2670048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14600" y="2670048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14600" y="2670048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89120" y="2670048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2670048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720840" y="2670048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20840" y="2670048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8346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Object Storage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2852928"/>
            <a:ext cx="1645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79192" y="28895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28346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HDFS · AWS 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2834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API S3 · Local · Open-source · Docker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419856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3419856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514600" y="3419856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514600" y="3419856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3419856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389120" y="3419856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720840" y="3419856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720840" y="3419856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35844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Orchestration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3602736"/>
            <a:ext cx="1645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79192" y="363931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 Airflow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35844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Apache NiFi · Cron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79" y="35844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DAGs Python · UI · Retry · Alertes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169664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" y="4169664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514600" y="4169664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514600" y="4169664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389120" y="4169664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389120" y="4169664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720840" y="4169664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720840" y="4169664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433425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Data Warehouse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40" y="4352544"/>
            <a:ext cx="16459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679192" y="4389120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59" y="433425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MySQL · BigQuery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79" y="433425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ACID · JSON · Extensions analytiques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919472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65760" y="4919472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514600" y="4919472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514600" y="4919472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389120" y="4919472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389120" y="4919472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720840" y="4919472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720840" y="4919472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5084064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Visualisation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06040" y="5102352"/>
            <a:ext cx="164592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79192" y="5138928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80559" y="5084064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PowerBI · Tableau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12279" y="50840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Open-source · PostgreSQL natif · Alertes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5669279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65760" y="5669279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514600" y="5669279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514600" y="5669279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389120" y="5669279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389120" y="5669279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720840" y="5669279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720840" y="5669279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57200" y="5833871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Transformation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06040" y="5852159"/>
            <a:ext cx="164592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679192" y="588873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Python+Pandas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80559" y="5833871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Spark · dbt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12279" y="583387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Simple · Maîtrisé · Ecosystème riche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Difficultés Rencontrées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Problèmes réels — approche méthodique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64008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4572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54533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90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InconsistentClusterIdException 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56232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Kafka refusait de démarrer après redémarrage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Suppression des volumes Docker corrompus + recréation du cluster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15768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715768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715768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2807208"/>
            <a:ext cx="4572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284378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88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Docker Desktop manquait de 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54679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Containers crashaient aléatoirement (OOM Killer)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Augmentation limite RAM à 5 GB + limites mem_limit par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14215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014215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4014215"/>
            <a:ext cx="64008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105655"/>
            <a:ext cx="45720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" y="4142231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87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Grafana affichait 'No data'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453127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Datasource PostgreSQL mal configuré (uid conflit + jsonData.database manquant)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731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Correction postgres.yml : suppression uid conflit + ajout jsonData.database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12664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312664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5312664"/>
            <a:ext cx="64008" cy="11887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5404103"/>
            <a:ext cx="45720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72" y="5440679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385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Airflow réseau introuvable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751575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airflow-init ne voyait pas postgres / kafka au démarrage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60716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Ajout du réseau news-net dans airflow-common dans docker-compose.yml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Démonstration Fonctionnelle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complet — bout en 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5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3795" y="1554480"/>
            <a:ext cx="1600200" cy="1828800"/>
          </a:xfrm>
          <a:prstGeom prst="rect">
            <a:avLst/>
          </a:prstGeom>
          <a:noFill/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" y="1554480"/>
            <a:ext cx="16002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6716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Python
BeautifulSoup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0572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0028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10028" y="1554480"/>
            <a:ext cx="1600200" cy="1828800"/>
          </a:xfrm>
          <a:prstGeom prst="rect">
            <a:avLst/>
          </a:prstGeom>
          <a:noFill/>
          <a:ln w="2286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10028" y="1554480"/>
            <a:ext cx="160020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2948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48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Kafka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5748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Streaming
news-articles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6804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6260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66260" y="1554480"/>
            <a:ext cx="1600200" cy="1828800"/>
          </a:xfrm>
          <a:prstGeom prst="rect">
            <a:avLst/>
          </a:prstGeom>
          <a:noFill/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66260" y="1554480"/>
            <a:ext cx="1600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9180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980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MinIO
Bronze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980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900 fichiers
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3036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2492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22492" y="1554480"/>
            <a:ext cx="1600200" cy="1828800"/>
          </a:xfrm>
          <a:prstGeom prst="rect">
            <a:avLst/>
          </a:prstGeom>
          <a:noFill/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22492" y="1554480"/>
            <a:ext cx="160020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5412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8212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</a:rPr>
              <a:t>ETL
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8212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Parquet
nettoyé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9267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78724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78724" y="1554480"/>
            <a:ext cx="1600200" cy="1828800"/>
          </a:xfrm>
          <a:prstGeom prst="rect">
            <a:avLst/>
          </a:prstGeom>
          <a:noFill/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78724" y="1554480"/>
            <a:ext cx="1600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81644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4444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</a:rPr>
              <a:t>PostgreSQL
DWH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4444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173 articles
chargés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5500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4956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934956" y="1554480"/>
            <a:ext cx="1600200" cy="1828800"/>
          </a:xfrm>
          <a:prstGeom prst="rect">
            <a:avLst/>
          </a:prstGeom>
          <a:noFill/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34956" y="1554480"/>
            <a:ext cx="1600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437876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0676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Grafana
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0676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13 panels
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611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8AAA"/>
                </a:solidFill>
              </a:rPr>
              <a:t>Interfaces disponibles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4041648"/>
            <a:ext cx="2240280" cy="25146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20040" y="4041648"/>
            <a:ext cx="224028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9768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Airflow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localhost:8080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admin/admin123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88336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688336" y="4041648"/>
            <a:ext cx="2240280" cy="25146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688336" y="4041648"/>
            <a:ext cx="224028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98064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MinIO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8064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localhost:9200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98064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minioadmin/minioadmin123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56631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056631" y="4041648"/>
            <a:ext cx="2240280" cy="25146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056631" y="4041648"/>
            <a:ext cx="224028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166359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Kafka UI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59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localhost:8090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359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24927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424927" y="4041648"/>
            <a:ext cx="2240280" cy="25146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424927" y="4041648"/>
            <a:ext cx="224028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534655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Grafana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4655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localhost:3001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34655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admin/admin123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93224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793224" y="4041648"/>
            <a:ext cx="2240280" cy="2514600"/>
          </a:xfrm>
          <a:prstGeom prst="rect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793224" y="4041648"/>
            <a:ext cx="224028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902951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Metabase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02951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localhost:3000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1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6537960"/>
            <a:ext cx="11567160" cy="2743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Script de démonstration :   .\demo.ps1   (PowerShell)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Résumé · Résultats ·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516636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📊  Résultats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900+ articles 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5973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173 articles dans DWH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8 sources 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131 mots-clés indexés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587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4 pays couverts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2511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2 langues (EN / 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914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75.7% taux de qualité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13 panels Grafana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241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3 DAGs Airflow actifs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904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14 services 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371600"/>
            <a:ext cx="35661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1371600"/>
            <a:ext cx="3566160" cy="516636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137160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 Points Forts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19933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Architecture distribuée moderne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459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Pipeline 100% automatisé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Streaming temps réel (Kafka)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924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Qualité et gouvernance intégrées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8587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Monitoring complet (Prometheus)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251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Déploiement reproductible 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7914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Code versionné Git (55 fichiers)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257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Documentation complète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7241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Kubernetes (optionnel)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6190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Bonus : Metabase BI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371600"/>
            <a:ext cx="35661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29600" y="1371600"/>
            <a:ext cx="3566160" cy="516636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0" y="1371600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🚀  Perspectives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9933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Déploiement Kubernetes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459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Ajout Al Jazeera + Barlamane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Analyse sentiment NLP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3924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Détection fake news 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8587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Alertes tendances temps réel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3251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API REST pour dashboards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7914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Kafka multi-broker cluster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257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Tableau de bord mobile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7241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Spark pour gros volumes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6190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Intégration LLM (résumés)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Livrables — Section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Tous les livrables attendus remis ✅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2834640" cy="224028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283464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Code Source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55 fichiers · 2 commits
master 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1444752"/>
            <a:ext cx="2834640" cy="224028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1444752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Schéma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docs/architecture.md
Diagramme ASCII complet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1444752"/>
            <a:ext cx="2834640" cy="224028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1444752"/>
            <a:ext cx="283464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1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Fichiers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docker-compose.yml
14 services définis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35440" y="1444752"/>
            <a:ext cx="2834640" cy="2240280"/>
          </a:xfrm>
          <a:prstGeom prst="rec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35440" y="1444752"/>
            <a:ext cx="283464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000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☸️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Fichiers Kubernetes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k8s/ — 8 manifests YAML
Namespace + Deployments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3867912"/>
            <a:ext cx="2834640" cy="224028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" y="3867912"/>
            <a:ext cx="28346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Documentation Technique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docs/technical_documentation.md
Installation + usage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91840" y="3867912"/>
            <a:ext cx="2834640" cy="2240280"/>
          </a:xfrm>
          <a:prstGeom prst="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91840" y="3867912"/>
            <a:ext cx="2834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564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Dashboards 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13 panels analytiques
localhost:3001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63640" y="3867912"/>
            <a:ext cx="2834640" cy="2240280"/>
          </a:xfrm>
          <a:prstGeom prst="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63640" y="3867912"/>
            <a:ext cx="2834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28231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Démonstration Pipeline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demo.ps1 PowerShell
Pipeline bout en bout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235440" y="3867912"/>
            <a:ext cx="2834640" cy="224028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235440" y="3867912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000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Présentation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6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Ce fichier PPTX
22 slides complets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Projet Big Data complet · 14 services Docker · 173 articles analysés · Pipeline automatisé 24h/24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22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403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Screenshots — Apache Airflow (Orchestration)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" y="740664"/>
            <a:ext cx="5929884" cy="29672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irflow_d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5856732" cy="28940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3470148"/>
            <a:ext cx="5856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 DAGs actifs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12764" y="740664"/>
            <a:ext cx="5929884" cy="29672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irflow_scraping_b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777240"/>
            <a:ext cx="5856732" cy="28940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9340" y="3470148"/>
            <a:ext cx="5856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scraping_batch — 8 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" y="3744468"/>
            <a:ext cx="5929884" cy="29672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irflow_scraping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81044"/>
            <a:ext cx="5856732" cy="28940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" y="6473952"/>
            <a:ext cx="5856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Vue Graph DAG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2764" y="3744468"/>
            <a:ext cx="5929884" cy="29672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irflow_transform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3781044"/>
            <a:ext cx="5856732" cy="28940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9340" y="6473952"/>
            <a:ext cx="5856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transformation_pipeline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403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Screenshots — MinIO Data Lake (Bronze / Silver / Gold)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" y="740664"/>
            <a:ext cx="5929884" cy="29672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inio_bron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5856732" cy="28940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3470148"/>
            <a:ext cx="5856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Bronze — 1078 articles bruts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12764" y="740664"/>
            <a:ext cx="5929884" cy="29672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inio_sil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777240"/>
            <a:ext cx="5856732" cy="28940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9340" y="3470148"/>
            <a:ext cx="5856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Silver — Parquet nettoyés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" y="3744468"/>
            <a:ext cx="5929884" cy="29672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inio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81044"/>
            <a:ext cx="5856732" cy="28940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" y="6473952"/>
            <a:ext cx="5856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Gold — 6 agrégats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2764" y="3744468"/>
            <a:ext cx="5929884" cy="29672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kafka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3781044"/>
            <a:ext cx="5856732" cy="28940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9340" y="6473952"/>
            <a:ext cx="5856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Kafka — 1078 messages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403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Screenshots — Grafana Dashboard (Visualisation)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" y="740664"/>
            <a:ext cx="5929884" cy="5971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grafana_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5856732" cy="5897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6473952"/>
            <a:ext cx="5856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KPIs + Articles par Source + Langues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12764" y="740664"/>
            <a:ext cx="5929884" cy="5971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grafana_dashboard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777240"/>
            <a:ext cx="5856732" cy="5897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9340" y="6473952"/>
            <a:ext cx="5856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Top Keywords + Catégories + Tendances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2191</Words>
  <Application>Microsoft Office PowerPoint</Application>
  <PresentationFormat>Personnalisé</PresentationFormat>
  <Paragraphs>571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Hibatallah Baetouty</cp:lastModifiedBy>
  <cp:revision>2</cp:revision>
  <dcterms:created xsi:type="dcterms:W3CDTF">2013-01-27T09:14:16Z</dcterms:created>
  <dcterms:modified xsi:type="dcterms:W3CDTF">2026-05-15T22:41:25Z</dcterms:modified>
  <cp:category/>
</cp:coreProperties>
</file>