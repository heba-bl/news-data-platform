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212080"/>
            <a:ext cx="11987784" cy="164592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188720" cy="50292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AI 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B6D4"/>
                </a:solidFill>
              </a:rPr>
              <a:t>ARCHITECTURE DE 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Big Data pour l'Analyse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des Articles de Presse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49039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AAA"/>
                </a:solidFill>
              </a:rPr>
              <a:t>Kafka  ·  Airflow  ·  MinIO  ·  PostgreSQL  ·  Grafana  ·  Docker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394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Nom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AAA"/>
                </a:solidFill>
              </a:rPr>
              <a:t>_______________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5394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Groupe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AAA"/>
                </a:solidFill>
              </a:rPr>
              <a:t>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5394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Date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AAA"/>
                </a:solidFill>
              </a:rPr>
              <a:t>_______________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Plan de la présentation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6692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669280" cy="694944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" y="1490472"/>
            <a:ext cx="457200" cy="43891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27048"/>
            <a:ext cx="3108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35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4D"/>
                </a:solidFill>
              </a:rPr>
              <a:t>Contexte &amp; Objectifs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37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AAA"/>
                </a:solidFill>
              </a:rPr>
              <a:t>Problématique · Buts du projet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76272"/>
            <a:ext cx="56692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76272"/>
            <a:ext cx="5669280" cy="694944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" y="2295144"/>
            <a:ext cx="457200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331720"/>
            <a:ext cx="3108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24027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4D"/>
                </a:solidFill>
              </a:rPr>
              <a:t>Sources de Données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5420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AAA"/>
                </a:solidFill>
              </a:rPr>
              <a:t>Sites marocains et internationaux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980944"/>
            <a:ext cx="56692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980944"/>
            <a:ext cx="5669280" cy="694944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" y="3099815"/>
            <a:ext cx="457200" cy="43891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136391"/>
            <a:ext cx="3108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04495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4D"/>
                </a:solidFill>
              </a:rPr>
              <a:t>Architecture Globale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346703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AAA"/>
                </a:solidFill>
              </a:rPr>
              <a:t>Pipeline bout en bout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85616"/>
            <a:ext cx="56692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785616"/>
            <a:ext cx="5669280" cy="694944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" y="3904488"/>
            <a:ext cx="457200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941064"/>
            <a:ext cx="3108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8496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4D"/>
                </a:solidFill>
              </a:rPr>
              <a:t>Ingestion des Données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1513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AAA"/>
                </a:solidFill>
              </a:rPr>
              <a:t>Kafka Streaming + Airflow Batch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590288"/>
            <a:ext cx="56692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590288"/>
            <a:ext cx="5669280" cy="694944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" y="4709159"/>
            <a:ext cx="457200" cy="43891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745736"/>
            <a:ext cx="3108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6542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4D"/>
                </a:solidFill>
              </a:rPr>
              <a:t>Data Lake Médaillon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9560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AAA"/>
                </a:solidFill>
              </a:rPr>
              <a:t>Bronze → Silver → Gold (MinIO)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394960"/>
            <a:ext cx="56692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5394960"/>
            <a:ext cx="5669280" cy="694944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9768" y="5513832"/>
            <a:ext cx="457200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550408"/>
            <a:ext cx="3108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4589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4D"/>
                </a:solidFill>
              </a:rPr>
              <a:t>Transformation ETL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760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AAA"/>
                </a:solidFill>
              </a:rPr>
              <a:t>Nettoyage · Normalisation · Enrichissement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1371600"/>
            <a:ext cx="56692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1371600"/>
            <a:ext cx="5669280" cy="694944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73368" y="1490472"/>
            <a:ext cx="457200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1527048"/>
            <a:ext cx="3108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1435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4D"/>
                </a:solidFill>
              </a:rPr>
              <a:t>Orchestration Airflow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1737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AAA"/>
                </a:solidFill>
              </a:rPr>
              <a:t>3 DAGs planifiés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2176272"/>
            <a:ext cx="56692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9360" y="2176272"/>
            <a:ext cx="5669280" cy="694944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73368" y="2295144"/>
            <a:ext cx="457200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2331720"/>
            <a:ext cx="3108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224027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4D"/>
                </a:solidFill>
              </a:rPr>
              <a:t>Data Warehouse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25420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AAA"/>
                </a:solidFill>
              </a:rPr>
              <a:t>Modèle étoile PostgreSQL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2980944"/>
            <a:ext cx="56692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09360" y="2980944"/>
            <a:ext cx="5669280" cy="694944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73368" y="3099815"/>
            <a:ext cx="457200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46520" y="3136391"/>
            <a:ext cx="3108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9440" y="304495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4D"/>
                </a:solidFill>
              </a:rPr>
              <a:t>Visualisation Grafana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9440" y="3346703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AAA"/>
                </a:solidFill>
              </a:rPr>
              <a:t>13 panels analytiques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3785616"/>
            <a:ext cx="56692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0" y="3785616"/>
            <a:ext cx="5669280" cy="694944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73368" y="3904488"/>
            <a:ext cx="457200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46520" y="3941064"/>
            <a:ext cx="3108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49440" y="38496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4D"/>
                </a:solidFill>
              </a:rPr>
              <a:t>Qualité &amp; Gouvernance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41513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AAA"/>
                </a:solidFill>
              </a:rPr>
              <a:t>Contrôles · Lineage · Traçabilité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09360" y="4590288"/>
            <a:ext cx="56692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09360" y="4590288"/>
            <a:ext cx="5669280" cy="694944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709159"/>
            <a:ext cx="457200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46520" y="4745736"/>
            <a:ext cx="3108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49440" y="46542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4D"/>
                </a:solidFill>
              </a:rPr>
              <a:t>Déploiement &amp; Monitoring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49440" y="49560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AAA"/>
                </a:solidFill>
              </a:rPr>
              <a:t>Docker · Kubernetes · Prometheus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09360" y="5394960"/>
            <a:ext cx="56692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09360" y="5394960"/>
            <a:ext cx="5669280" cy="694944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73368" y="5513832"/>
            <a:ext cx="457200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46520" y="5550408"/>
            <a:ext cx="3108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49440" y="54589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4D"/>
                </a:solidFill>
              </a:rPr>
              <a:t>Résultats &amp; Livrables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49440" y="5760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AAA"/>
                </a:solidFill>
              </a:rPr>
              <a:t>Démonstration · Conclusion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Pourquoi une plateforme d'analyse de presse 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669280" cy="2148840"/>
          </a:xfrm>
          <a:prstGeom prst="rect">
            <a:avLst/>
          </a:prstGeom>
          <a:noFill/>
          <a:ln w="1905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669280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4466"/>
                </a:solidFill>
              </a:rPr>
              <a:t>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002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463EB"/>
                </a:solidFill>
              </a:rPr>
              <a:t>Volume massif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Des milliers d'articles publiés chaque jour,
impossibles à analyser manuellement.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41732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5669280" cy="2148840"/>
          </a:xfrm>
          <a:prstGeom prst="rect">
            <a:avLst/>
          </a:prstGeom>
          <a:noFill/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669280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4466"/>
                </a:solidFill>
              </a:rPr>
              <a:t>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6002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46E5"/>
                </a:solidFill>
              </a:rPr>
              <a:t>Tendances floues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945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Sans outil, identifier les sujets dominants
prend des heures de lecture.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794760"/>
            <a:ext cx="5669280" cy="2148840"/>
          </a:xfrm>
          <a:prstGeom prst="rect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794760"/>
            <a:ext cx="566928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77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4466"/>
                </a:solidFill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776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</a:rPr>
              <a:t>Besoin temps réel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Les événements évoluent vite — une
analyse tardive perd toute valeur.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79476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794760"/>
            <a:ext cx="5669280" cy="2148840"/>
          </a:xfrm>
          <a:prstGeom prst="rec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794760"/>
            <a:ext cx="566928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977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4466"/>
                </a:solidFill>
              </a:rPr>
              <a:t>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9776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</a:rPr>
              <a:t>Sources multiples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57200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Agréger presse marocaine et
internationale nécessite une infra unifiée.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Objectifs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6 axes techniques couverts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3749039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81912"/>
            <a:ext cx="548640" cy="54864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184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58191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Collecter automatiquement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5856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Scraping 5 sources toutes les heures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417320"/>
            <a:ext cx="3749039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1581912"/>
            <a:ext cx="54864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16184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58191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Pipeline Big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25856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Kafka streaming + Airflow orchestration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41732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41732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417320"/>
            <a:ext cx="3749039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66760" y="1581912"/>
            <a:ext cx="54864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16184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158191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Architecture Médaillon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25856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Bronze → Silver → Gold dans MinIO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88620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388620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886200"/>
            <a:ext cx="3749039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050791"/>
            <a:ext cx="54864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08736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050791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Data Warehouse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472744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Modèle dimensionnel PostgreSQL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388620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388620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97680" y="3886200"/>
            <a:ext cx="3749039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34840" y="4050791"/>
            <a:ext cx="54864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98848" y="408736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4050791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Qualité &amp; Gouvernance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2272" y="472744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Contrôles automatisés + data lineage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388620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388620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29600" y="3886200"/>
            <a:ext cx="3749039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66760" y="4050791"/>
            <a:ext cx="548640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0768" y="408736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4050791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Visualisation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94192" y="472744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Grafana 13 panels + Metabase BI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Sources de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5 sites — marocains &amp; internationaux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868680" cy="4114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89888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Marocains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530352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5303520" cy="1170432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🇲🇦  Hespress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68879"/>
            <a:ext cx="64008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505456"/>
            <a:ext cx="4937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ar / fr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8716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Politique · Sport · Économie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30352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5303520" cy="1170432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🇲🇦  Akhbarona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94760"/>
            <a:ext cx="64008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831336"/>
            <a:ext cx="4937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8130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Actualité générale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1051560" cy="4114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3898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463EB"/>
                </a:solidFill>
              </a:rPr>
              <a:t>Internationaux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874519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874519"/>
            <a:ext cx="5577840" cy="1170432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🇬🇧  BBC News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468879"/>
            <a:ext cx="502920" cy="2926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2505456"/>
            <a:ext cx="3566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2487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Monde · Tech · Science · Sport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200400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200400"/>
            <a:ext cx="5577840" cy="1170432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291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🇺🇸  CNN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94760"/>
            <a:ext cx="502920" cy="2926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3831336"/>
            <a:ext cx="3566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813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Monde · Politique · Business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526279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526279"/>
            <a:ext cx="5577840" cy="1170432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61771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🇬🇧  Reuters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5120640"/>
            <a:ext cx="502920" cy="2926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3952" y="5157216"/>
            <a:ext cx="3566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513892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Finance · Politique · Marchés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559552"/>
            <a:ext cx="11430000" cy="9875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63270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463EB"/>
                </a:solidFill>
              </a:rPr>
              <a:t>Données collectées :   Titre  ·  Auteur  ·  Date  ·  Catégorie  ·  Contenu  ·  Source  ·  URL  ·  Langue détectée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Architecture Globale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Pipeline de données de bout en bout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5" y="1920240"/>
            <a:ext cx="1600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3795" y="1920240"/>
            <a:ext cx="1600200" cy="1920240"/>
          </a:xfrm>
          <a:prstGeom prst="rect">
            <a:avLst/>
          </a:prstGeom>
          <a:noFill/>
          <a:ln w="228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5" y="1920240"/>
            <a:ext cx="160020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995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" y="26060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B6D4"/>
                </a:solidFill>
              </a:rPr>
              <a:t>SCRAPING
Python
BeautifulSoup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1427" y="260604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0028" y="1920240"/>
            <a:ext cx="1600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10028" y="1920240"/>
            <a:ext cx="1600200" cy="1920240"/>
          </a:xfrm>
          <a:prstGeom prst="rect">
            <a:avLst/>
          </a:prstGeom>
          <a:noFill/>
          <a:ln w="2286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10028" y="1920240"/>
            <a:ext cx="1600200" cy="59436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7228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5748" y="26060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KAFKA
Streaming
news-articles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7660" y="260604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66260" y="1920240"/>
            <a:ext cx="1600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6260" y="1920240"/>
            <a:ext cx="1600200" cy="1920240"/>
          </a:xfrm>
          <a:prstGeom prst="rect">
            <a:avLst/>
          </a:prstGeom>
          <a:noFill/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66260" y="1920240"/>
            <a:ext cx="160020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3460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1980" y="26060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MINIO
Bronze→Silver
→Gold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3892" y="260604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2492" y="1920240"/>
            <a:ext cx="1600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2492" y="1920240"/>
            <a:ext cx="1600200" cy="1920240"/>
          </a:xfrm>
          <a:prstGeom prst="rect">
            <a:avLst/>
          </a:prstGeom>
          <a:noFill/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492" y="1920240"/>
            <a:ext cx="1600200" cy="5943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9692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⚙️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8212" y="26060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</a:rPr>
              <a:t>ETL
Python
Pandas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0123" y="260604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8724" y="1920240"/>
            <a:ext cx="1600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8724" y="1920240"/>
            <a:ext cx="1600200" cy="1920240"/>
          </a:xfrm>
          <a:prstGeom prst="rect">
            <a:avLst/>
          </a:prstGeom>
          <a:noFill/>
          <a:ln w="228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78724" y="1920240"/>
            <a:ext cx="1600200" cy="594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5924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4444" y="26060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POSTGRESQL
Data
Warehouse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06356" y="260604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34956" y="1920240"/>
            <a:ext cx="1600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34956" y="1920240"/>
            <a:ext cx="1600200" cy="1920240"/>
          </a:xfrm>
          <a:prstGeom prst="rect">
            <a:avLst/>
          </a:prstGeom>
          <a:noFill/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34956" y="1920240"/>
            <a:ext cx="160020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92156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80676" y="26060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GRAFANA
13 Panels
Live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160520"/>
            <a:ext cx="11430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22452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A8AAA"/>
                </a:solidFill>
              </a:rPr>
              <a:t>Docker Compose  ·  11 services  ·  Apache Airflow  ·  Apache Kafka 7.4  ·  Python 3.11  ·  PostgreSQL 15  ·  Grafana 13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846320"/>
            <a:ext cx="180136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5760" y="4846320"/>
            <a:ext cx="1801368" cy="1737360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49560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463EB"/>
                </a:solidFill>
              </a:rPr>
              <a:t>900+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5623560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Articles Bronze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76856" y="4846320"/>
            <a:ext cx="180136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276856" y="4846320"/>
            <a:ext cx="1801368" cy="1737360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22575" y="49560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463EB"/>
                </a:solidFill>
              </a:rPr>
              <a:t>173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22575" y="5623560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Chargés DWH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87952" y="4846320"/>
            <a:ext cx="180136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87952" y="4846320"/>
            <a:ext cx="1801368" cy="1737360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33672" y="49560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463EB"/>
                </a:solidFill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33672" y="5623560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Sources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99048" y="4846320"/>
            <a:ext cx="180136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099048" y="4846320"/>
            <a:ext cx="1801368" cy="1737360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44768" y="49560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463EB"/>
                </a:solidFill>
              </a:rPr>
              <a:t>131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5623560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Mots-clés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10144" y="4846320"/>
            <a:ext cx="180136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10144" y="4846320"/>
            <a:ext cx="1801368" cy="1737360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55864" y="49560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463EB"/>
                </a:solidFill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55864" y="5623560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Pays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921240" y="4846320"/>
            <a:ext cx="180136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921240" y="4846320"/>
            <a:ext cx="1801368" cy="1737360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966960" y="49560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463EB"/>
                </a:solidFill>
              </a:rPr>
              <a:t>75.7%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66960" y="5623560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Qualité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Data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Deux modes d'ingestion complémentaires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6692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669280" cy="5166360"/>
          </a:xfrm>
          <a:prstGeom prst="rect">
            <a:avLst/>
          </a:prstGeom>
          <a:noFill/>
          <a:ln w="1905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5669280" cy="59436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463EB"/>
                </a:solidFill>
              </a:rPr>
              <a:t>⏱  Batch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Scraping planifié toutes les heures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Orchestré par Apache Airflow DAG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8327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DAG : scraping_batch (@hourly)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5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5 sources scrapées en parallèle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634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Chaque article envoyé vers Kafka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530352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1937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8AAA"/>
                </a:solidFill>
              </a:rPr>
              <a:t>Technologie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486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Apache Airflow
scraping_batch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371600"/>
            <a:ext cx="56692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371600"/>
            <a:ext cx="5669280" cy="5166360"/>
          </a:xfrm>
          <a:prstGeom prst="rect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371600"/>
            <a:ext cx="566928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46304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</a:rPr>
              <a:t>⚡  Streaming Ingestion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1031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Chaque article = 1 message Kafka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743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Topic : news-articles (3 partitions)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8327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Consumer lit en continu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02335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Stockage immédiat Bronze (MinIO)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6634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Rétention : 7 jours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5120640"/>
            <a:ext cx="530352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51937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8AAA"/>
                </a:solidFill>
              </a:rPr>
              <a:t>Technologie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486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Apache Kafka
news-articles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Data Lake — MinIO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Object Storage open-source compatible S3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30000" cy="8686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4466"/>
                </a:solidFill>
              </a:rPr>
              <a:t>MinIO — Déployé via Docker · API S3 · Interface console web · Volumes persistants · 3 buckets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95728"/>
            <a:ext cx="3749039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395728"/>
            <a:ext cx="3749039" cy="41605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395728"/>
            <a:ext cx="3749039" cy="594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487168"/>
            <a:ext cx="100584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523744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71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463EB"/>
                </a:solidFill>
              </a:rPr>
              <a:t>bronze/raw/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37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Format : JSON brut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673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Articles tels que scrapés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6168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Historique complet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95604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Aucune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5040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900+ fichiers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1605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395728"/>
            <a:ext cx="3749039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2395728"/>
            <a:ext cx="3749039" cy="41605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2395728"/>
            <a:ext cx="3749039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2487168"/>
            <a:ext cx="100584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7992" y="2523744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971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463EB"/>
                </a:solidFill>
              </a:rPr>
              <a:t>silver/cleaned/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337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Format : Parquet (Snappy)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7673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HTML supprimé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36168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Texte normalisé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95604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Langue détectée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55040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Dédupliqué par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1605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2395728"/>
            <a:ext cx="3749039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2395728"/>
            <a:ext cx="3749039" cy="41605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2395728"/>
            <a:ext cx="3749039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66760" y="2487168"/>
            <a:ext cx="100584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9912" y="2523744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GOLD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2971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463EB"/>
                </a:solidFill>
              </a:rPr>
              <a:t>gold/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3337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Format : Parquet optimisé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7673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Agrégations pré-calculées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36168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Articles/source/jour/pays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95604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Top mots-clés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555040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20 fichiers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Architecture Médaillon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Bronze  →  Silver  →  Gold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3749039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3749039" cy="5120640"/>
          </a:xfrm>
          <a:prstGeom prst="rect">
            <a:avLst/>
          </a:prstGeom>
          <a:noFill/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3749039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</a:rPr>
              <a:t>🟫 BRONZE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A8AAA"/>
                </a:solidFill>
              </a:rPr>
              <a:t>Données Brutes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420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JSON bruts depuis Kafka Consumer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6382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Historique complet conservé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85615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Aucune modification des données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0740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Partitionné par date YYYY/MM/DD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900+ fichiers — 5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365760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A8AAA"/>
                </a:solidFill>
              </a:rPr>
              <a:t>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1417320"/>
            <a:ext cx="3749039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79392" y="1417320"/>
            <a:ext cx="3749039" cy="5120640"/>
          </a:xfrm>
          <a:prstGeom prst="rect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9392" y="1417320"/>
            <a:ext cx="3749039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150876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</a:rPr>
              <a:t>⬜ SILVER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2057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A8AAA"/>
                </a:solidFill>
              </a:rPr>
              <a:t>Données Nettoyées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25420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Suppression des balises 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16382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Normalisation Unicode + espaces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3785615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Détection langue (langdetect)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440740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Déduplication par URL unique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13 fichiers Parquet compressés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365760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A8AAA"/>
                </a:solidFill>
              </a:rPr>
              <a:t>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38744" y="1417320"/>
            <a:ext cx="3749039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38744" y="1417320"/>
            <a:ext cx="3749039" cy="5120640"/>
          </a:xfrm>
          <a:prstGeom prst="rect">
            <a:avLst/>
          </a:prstGeom>
          <a:noFill/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38744" y="1417320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75904" y="150876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🥇 GOLD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2057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A8AAA"/>
                </a:solidFill>
              </a:rPr>
              <a:t>Données Analytiques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5904" y="25420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Agrégations pré-calculées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4" y="316382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Articles par source / pays / jour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3785615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Top mots-clés (stopwords retirés)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5904" y="440740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Distribution des langues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75904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20 fichiers Parquet — prêt DWH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6510528"/>
            <a:ext cx="11567160" cy="2926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54710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463EB"/>
                </a:solidFill>
              </a:rPr>
              <a:t>ETL Python :  bronze_to_silver.py  ·  silver_to_gold.py  |  Orchestration : Apache Airflow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Transformation des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Pipeline ETL Python — 6 étapes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4475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44752"/>
            <a:ext cx="3749039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9344"/>
            <a:ext cx="50292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3" y="16459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6093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Lecture Bronze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08483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Lecture fichiers JSON
depuis MinIO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144475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44475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444752"/>
            <a:ext cx="3749039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16552" y="1609344"/>
            <a:ext cx="5029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1416" y="16459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1" y="16093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Nettoyage 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1" y="208483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BeautifulSoup retire
toutes les balises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38744" y="144475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38744" y="144475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38744" y="1444752"/>
            <a:ext cx="3749039" cy="640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75904" y="1609344"/>
            <a:ext cx="502920" cy="50292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16459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16093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Normalisation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5984" y="208483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Unicode · Espaces
Caractères spéciaux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91363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913632"/>
            <a:ext cx="3749039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078224"/>
            <a:ext cx="50292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3" y="41148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07822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Détection Langue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55371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langdetect
(EN / AR / FR)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9392" y="391363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79392" y="391363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79392" y="3913632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16552" y="4078224"/>
            <a:ext cx="502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71416" y="41148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56631" y="407822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Déduplication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56631" y="455371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Hash URL unique
anti-doublons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38744" y="391363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38744" y="391363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38744" y="3913632"/>
            <a:ext cx="3749039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75904" y="4078224"/>
            <a:ext cx="50292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0768" y="41148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5984" y="407822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Écriture Silver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15984" y="455371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Parquet Snappy
vers MinIO silver/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Orchestration — Apache Airflow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3 DAGs planifiés et supervisés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3749039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3749039" cy="51663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3749039" cy="640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90472"/>
            <a:ext cx="777240" cy="34747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2704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DAG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3852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scraping_batch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3474720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05456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463EB"/>
                </a:solidFill>
              </a:rPr>
              <a:t>⏰  Schedule : @hourly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Toutes les heures automatiquement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935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Lance 5 scrapers en parallèle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1538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Chaque article → KafkaProducer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3717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Consumer → MinIO Bronze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9392" y="1389888"/>
            <a:ext cx="3749039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9392" y="1389888"/>
            <a:ext cx="3749039" cy="51663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1389888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16552" y="1490472"/>
            <a:ext cx="77724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9704" y="152704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DAG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193852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transformation_pipeline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16552" y="2468880"/>
            <a:ext cx="3474720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2505456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⏰  Schedule : @daily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Lit les fichiers Bronze (MinIO)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2" y="35935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ETL : nettoyage + normalisation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6552" y="421538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Détection langue + dédup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6552" y="483717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Parquet Silver + Gold → MinIO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38744" y="1389888"/>
            <a:ext cx="3749039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38744" y="1389888"/>
            <a:ext cx="3749039" cy="51663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38744" y="1389888"/>
            <a:ext cx="3749039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75904" y="1490472"/>
            <a:ext cx="77724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49056" y="152704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DAG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193852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warehouse_load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75904" y="2468880"/>
            <a:ext cx="3474720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67344" y="2505456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⏰  Schedule : @daily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5904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Lit Silver + Gold depuis MinIO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75904" y="35935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Charge fact_articles + dimensions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75904" y="421538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Met à jour tables agrégées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5904" y="483717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Log qualité → data_quality_log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0" y="6519672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463EB"/>
                </a:solidFill>
              </a:rPr>
              <a:t>Interface Airflow  →  http://localhost:8080  |  admin / admin123  |  Airflow 2.8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Data Warehouse —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Modèle en étoile (Star Schema)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640080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6400800" cy="51663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Schéma en Étoile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┌─────────────┐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│  dim_date   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6032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│  date_id PK 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│  day/month  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0040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│  year/qtr   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204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└──────┬──────┘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40479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       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6052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┌──────────┐        │         ┌─────────────┐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8056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│dim_source├────fact_articles─┤dim_category 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0060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└──────────┘   title · author └─────────────┘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206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   content · 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440679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   published_at · language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760719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   word_count · source_id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371600"/>
            <a:ext cx="46634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0" y="1371600"/>
            <a:ext cx="4663440" cy="51663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14630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Tables Analytiques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1938528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2002536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463EB"/>
                </a:solidFill>
              </a:rPr>
              <a:t>agg_articles_by_source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21284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Articles par source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2505456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256946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agg_articles_by_day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277977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Tendance temporelle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072384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3136392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agg_articles_by_country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34670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Articles par pays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3639312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370332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agg_articles_by_category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391363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Par catégorie / thème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4206240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427024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agg_top_keywords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480559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Top 131 mots-clés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0" y="4773168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4837176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agg_language_distribution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504748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Distribution langues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5340096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06640" y="540410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8AAA"/>
                </a:solidFill>
              </a:rPr>
              <a:t>pipeline_runs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561441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Historique pipelines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0" y="5907024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0" y="5971032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8AAA"/>
                </a:solidFill>
              </a:rPr>
              <a:t>data_quality_log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618134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Rapport qualité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Visualisation — Grafana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13 panels analytiques — données réelles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2212848" cy="160020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2212848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🟢 Total Articles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173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39" y="1417320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6039" y="1417320"/>
            <a:ext cx="2212848" cy="1600200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39" y="1417320"/>
            <a:ext cx="2212848" cy="59436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79" y="150876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🔵 Sources Actives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63EB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59" y="1417320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59" y="1417320"/>
            <a:ext cx="2212848" cy="160020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59" y="1417320"/>
            <a:ext cx="2212848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199" y="150876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🟠 Mots Clés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9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131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79" y="1417320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69479" y="1417320"/>
            <a:ext cx="2212848" cy="1600200"/>
          </a:xfrm>
          <a:prstGeom prst="rect">
            <a:avLst/>
          </a:prstGeom>
          <a:noFill/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9479" y="1417320"/>
            <a:ext cx="2212848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19" y="150876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🟣 Taux Qualité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19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75.7%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1417320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0" y="1417320"/>
            <a:ext cx="2212848" cy="1600200"/>
          </a:xfrm>
          <a:prstGeom prst="rect">
            <a:avLst/>
          </a:prstGeom>
          <a:noFill/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01200" y="1417320"/>
            <a:ext cx="2212848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150876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⬜ Dernier Scraping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14/05/2026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172968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3172968"/>
            <a:ext cx="2212848" cy="1600200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3172968"/>
            <a:ext cx="2212848" cy="59436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26440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📰 Par Source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38587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63EB"/>
                </a:solidFill>
              </a:rPr>
              <a:t>BBC·Reuters·CNN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39" y="3172968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06039" y="3172968"/>
            <a:ext cx="2212848" cy="160020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06039" y="3172968"/>
            <a:ext cx="2212848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79" y="326440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🌍 Par Pays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97479" y="38587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UK·USA·Morocco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59" y="3172968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937759" y="3172968"/>
            <a:ext cx="2212848" cy="160020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37759" y="3172968"/>
            <a:ext cx="2212848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199" y="326440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🗣 Langues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199" y="38587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EN:171 · AR:2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69479" y="3172968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69479" y="3172968"/>
            <a:ext cx="2212848" cy="1600200"/>
          </a:xfrm>
          <a:prstGeom prst="rect">
            <a:avLst/>
          </a:prstGeom>
          <a:noFill/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69479" y="3172968"/>
            <a:ext cx="2212848" cy="594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60919" y="326440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📈 Tendance / Jour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19" y="38587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21 jours hist.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01200" y="3172968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601200" y="3172968"/>
            <a:ext cx="2212848" cy="1600200"/>
          </a:xfrm>
          <a:prstGeom prst="rect">
            <a:avLst/>
          </a:prstGeom>
          <a:noFill/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01200" y="3172968"/>
            <a:ext cx="2212848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326440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🔑 Top Mots Clés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2640" y="38587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minister·labour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928616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74320" y="4928616"/>
            <a:ext cx="2212848" cy="1600200"/>
          </a:xfrm>
          <a:prstGeom prst="rect">
            <a:avLst/>
          </a:prstGeom>
          <a:noFill/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74320" y="4928616"/>
            <a:ext cx="2212848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5020055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📂 Catégories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5614416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World·Politics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06039" y="4928616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606039" y="4928616"/>
            <a:ext cx="2212848" cy="160020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606039" y="4928616"/>
            <a:ext cx="2212848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697479" y="5020055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⚙️  Pipeline Runs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97479" y="5614416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4 pipelines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37759" y="4928616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937759" y="4928616"/>
            <a:ext cx="2212848" cy="160020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937759" y="4928616"/>
            <a:ext cx="2212848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199" y="5020055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✅ Qualité rapport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199" y="5614416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passed/failed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463EB"/>
                </a:solidFill>
              </a:rPr>
              <a:t>Grafana  →  http://localhost:3001  |  admin / admin123  |  Dashboard : News Data Platform - Complet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Qualité des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Contrôles automatisés — 3 dimensions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82296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8229600" cy="502920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Tests Implémentés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2816352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Contrôle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920240"/>
            <a:ext cx="1901952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Dimension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920240"/>
            <a:ext cx="3547872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965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Règle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231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Titre vide ou trop court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2478024"/>
            <a:ext cx="1691640" cy="3291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9272" y="2514600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Complétude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42316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len(title) &gt;=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260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Date manquante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2980944"/>
            <a:ext cx="1691640" cy="3291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9272" y="3017520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Complétude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92608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published_at IS NOT NULL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4290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Contenu trop court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3483864"/>
            <a:ext cx="169164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9272" y="3520440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Validité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42900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len(content) &gt;= 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9319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URL invalide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3986783"/>
            <a:ext cx="169164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9272" y="4023359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Validité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93192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url.startswith('http')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4348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Source manquante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4489703"/>
            <a:ext cx="1691640" cy="3291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9272" y="4526279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Complétude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43484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source IS NOT NULL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9377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Langue incohérente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46120" y="4992624"/>
            <a:ext cx="1691640" cy="32918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19272" y="5029200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Cohérence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93776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langue ↔ source attendue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1371600"/>
            <a:ext cx="28346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61120" y="1371600"/>
            <a:ext cx="2834640" cy="502920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61120" y="1371600"/>
            <a:ext cx="28346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14630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Résultats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201168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Total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239572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4D"/>
                </a:solidFill>
              </a:rPr>
              <a:t>173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306324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Valides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344728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131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8280" y="411480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Taux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449884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75.7%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51663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Log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55040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463EB"/>
                </a:solidFill>
              </a:rPr>
              <a:t>PostgreSQL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Gouvernance des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Traçabilité · Documentation · Transparence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3000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Data Lineage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2463EB"/>
                </a:solidFill>
              </a:rPr>
              <a:t>[EXTERNE] BBC·CNN·Reuters·Hespress·Akhbarona  →  [BRONZE] JSON  →  [SILVER] Parquet  →  [GOLD] Agrégats  →  [DWH] PostgreSQL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2834640" cy="3931920"/>
          </a:xfrm>
          <a:prstGeom prst="rect">
            <a:avLst/>
          </a:prstGeom>
          <a:noFill/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560320"/>
            <a:ext cx="2834640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517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Schéma de chaque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04487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Format + localisation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62856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Pipeline producteur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22122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governance/lineage.py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256032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2560320"/>
            <a:ext cx="2834640" cy="3931920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37560" y="2560320"/>
            <a:ext cx="2834640" cy="59436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26517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Traçabilité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Source → destination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904487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lineage.jsonl log 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562856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Catalogue complet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22122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5 datasets documentés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56032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2560320"/>
            <a:ext cx="2834640" cy="393192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2560320"/>
            <a:ext cx="283464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26517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Suivi Pipeline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Table pipeline_runs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904487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status + records_in/out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562856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Durée d'exécution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22122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Historique complet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60" y="256032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81160" y="2560320"/>
            <a:ext cx="2834640" cy="393192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81160" y="2560320"/>
            <a:ext cx="283464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0" y="26517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Qualité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data_quality_log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3904487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Taux validation 75.7%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4562856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Issues détectées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522122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Par pipeline + 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Déploiement — 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11 services · 1 commande · Réseau isolé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4475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4475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44752"/>
            <a:ext cx="283464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53619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zookeeper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99339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Coordination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43230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6888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:2181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64408" y="144475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64408" y="144475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64408" y="1444752"/>
            <a:ext cx="283464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4136" y="153619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kafka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4136" y="199339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Message Broker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74136" y="243230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7288" y="246888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:9092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144475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54496" y="144475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4496" y="1444752"/>
            <a:ext cx="283464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153619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kafka-ui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199339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Interface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64224" y="243230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246888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:8090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44584" y="144475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44584" y="144475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44584" y="1444752"/>
            <a:ext cx="283464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153619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minio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4312" y="199339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Object Storage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54312" y="243230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27464" y="246888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:9200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99923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299923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2999232"/>
            <a:ext cx="2834640" cy="594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309067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postgres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354787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Data Warehouse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398678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02336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:5432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64408" y="299923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64408" y="299923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64408" y="2999232"/>
            <a:ext cx="283464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74136" y="309067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scraper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74136" y="354787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Web Scraping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74136" y="398678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47288" y="402336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interne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54496" y="299923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4496" y="299923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54496" y="2999232"/>
            <a:ext cx="283464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64224" y="309067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consumer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64224" y="354787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Kafka→MinIO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64224" y="398678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37376" y="402336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interne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44584" y="299923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44584" y="299923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44584" y="2999232"/>
            <a:ext cx="2834640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54312" y="309067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airflow-webserver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54312" y="354787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Orchestration UI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54312" y="398678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27464" y="402336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:8080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55371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74320" y="455371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74320" y="4553712"/>
            <a:ext cx="2834640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4048" y="46451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airflow-scheduler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4048" y="510235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DAG Scheduler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4048" y="554126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557784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interne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64408" y="455371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264408" y="455371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264408" y="4553712"/>
            <a:ext cx="283464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374136" y="46451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grafana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74136" y="510235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Dashboards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374136" y="554126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447288" y="557784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:3001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54496" y="455371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54496" y="455371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254496" y="4553712"/>
            <a:ext cx="283464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64224" y="46451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prometheus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64224" y="510235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Métriques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64224" y="554126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37376" y="557784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:9090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463EB"/>
                </a:solidFill>
              </a:rPr>
              <a:t>docker compose up -d --build   ·   RAM : 5 GB minimum   ·   Docker Desktop 4.x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Monitoring — Prometheus + Grafana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Observabilité complète de la plateforme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6692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669280" cy="5166360"/>
          </a:xfrm>
          <a:prstGeom prst="rect">
            <a:avLst/>
          </a:prstGeom>
          <a:noFill/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56692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334466"/>
                </a:solidFill>
              </a:rPr>
              <a:t>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</a:rPr>
              <a:t>Prometheus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Collecte métriques toutes les 15s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CPU / RAM / réseau par container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Métriques Kafka (messages/sec)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Métriques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2628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Alertes configurables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Données temporelles (TSDB)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897880"/>
            <a:ext cx="530352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943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http://localhost:9090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371600"/>
            <a:ext cx="56692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371600"/>
            <a:ext cx="5669280" cy="5166360"/>
          </a:xfrm>
          <a:prstGeom prst="rect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371600"/>
            <a:ext cx="566928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334466"/>
                </a:solidFill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</a:rPr>
              <a:t>Grafana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14884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Source : PostgreSQL + Prometheus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74320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Dashboard News Data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33756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13 panels analytiques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93192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KPIs temps réel (auto-refresh)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52628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Provisioning automatique YAML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12064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Plugins : PostgreSQL natif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5897880"/>
            <a:ext cx="530352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5943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http://localhost:3001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Choix Technologiques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Pourquoi ces technologies 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89888"/>
            <a:ext cx="205740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3560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Composant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389888"/>
            <a:ext cx="1783080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43560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Choix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389888"/>
            <a:ext cx="224028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43560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Alternatives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389888"/>
            <a:ext cx="493776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79" y="14356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Justification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20240"/>
            <a:ext cx="205740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1920240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1920240"/>
            <a:ext cx="17830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1920240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1920240"/>
            <a:ext cx="22402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1920240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20840" y="1920240"/>
            <a:ext cx="493776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20840" y="1920240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08483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Message Broker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2103120"/>
            <a:ext cx="1645920" cy="34747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79192" y="2139696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Apache Kafka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208483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RabbitMQ · Redis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79" y="20848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Partitions · Rétention · Scalabilité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670048"/>
            <a:ext cx="205740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670048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14600" y="2670048"/>
            <a:ext cx="17830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14600" y="2670048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2670048"/>
            <a:ext cx="22402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20" y="2670048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20840" y="2670048"/>
            <a:ext cx="493776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20840" y="2670048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83464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Object Storage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40" y="2852928"/>
            <a:ext cx="16459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79192" y="2889504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MinIO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59" y="283464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HDFS · AWS S3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79" y="2834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API S3 · Local · Open-source · Docker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419856"/>
            <a:ext cx="205740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3419856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514600" y="3419856"/>
            <a:ext cx="17830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514600" y="3419856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89120" y="3419856"/>
            <a:ext cx="22402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89120" y="3419856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720840" y="3419856"/>
            <a:ext cx="493776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20840" y="3419856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58444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Orchestration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06040" y="3602736"/>
            <a:ext cx="16459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79192" y="3639312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Apache Airflow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59" y="35844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Apache NiFi · Cron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79" y="35844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DAGs Python · UI · Retry · Alertes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169664"/>
            <a:ext cx="205740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5760" y="4169664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514600" y="4169664"/>
            <a:ext cx="17830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514600" y="4169664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89120" y="4169664"/>
            <a:ext cx="22402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89120" y="4169664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720840" y="4169664"/>
            <a:ext cx="493776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720840" y="4169664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334256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Data Warehouse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06040" y="4352544"/>
            <a:ext cx="164592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79192" y="4389120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80559" y="4334256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MySQL · BigQuery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12279" y="433425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ACID · JSON · Extensions analytiques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919472"/>
            <a:ext cx="205740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65760" y="4919472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514600" y="4919472"/>
            <a:ext cx="17830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514600" y="4919472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389120" y="4919472"/>
            <a:ext cx="22402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389120" y="4919472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20840" y="4919472"/>
            <a:ext cx="493776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20840" y="4919472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" y="5084064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Visualisation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06040" y="5102352"/>
            <a:ext cx="1645920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679192" y="5138928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Grafana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80559" y="5084064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PowerBI · Tableau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12279" y="508406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Open-source · PostgreSQL natif · Alertes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" y="5669279"/>
            <a:ext cx="205740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65760" y="5669279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514600" y="5669279"/>
            <a:ext cx="17830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514600" y="5669279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389120" y="5669279"/>
            <a:ext cx="22402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389120" y="5669279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720840" y="5669279"/>
            <a:ext cx="493776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720840" y="5669279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7200" y="5833871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Transformation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606040" y="5852159"/>
            <a:ext cx="1645920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79192" y="5888736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Python+Pandas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480559" y="5833871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Spark · dbt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12279" y="5833871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Simple · Maîtrisé · Ecosystème riche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Difficultés Rencontrées &amp;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Problèmes réels — approche méthodique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30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11430000" cy="11887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64008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45720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545336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4904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InconsistentClusterIdException Kafka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856232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❌  Kafka refusait de démarrer après redémarrage 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1762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Suppression des volumes Docker corrompus + recréation du cluster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15768"/>
            <a:ext cx="11430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715768"/>
            <a:ext cx="11430000" cy="11887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715768"/>
            <a:ext cx="64008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807208"/>
            <a:ext cx="45720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284378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7889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Docker Desktop manquait de 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154679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❌  Containers crashaient aléatoirement (OOM Killer)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4747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Augmentation limite RAM à 5 GB + limites mem_limit par service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14215"/>
            <a:ext cx="11430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014215"/>
            <a:ext cx="11430000" cy="11887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014215"/>
            <a:ext cx="64008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105655"/>
            <a:ext cx="457200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4142231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087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Grafana affichait 'No data'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453127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❌  Datasource PostgreSQL mal configuré (uid conflit + jsonData.database manquant)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7731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Correction postgres.yml : suppression uid conflit + ajout jsonData.database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312664"/>
            <a:ext cx="11430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312664"/>
            <a:ext cx="11430000" cy="11887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5312664"/>
            <a:ext cx="64008" cy="118872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404103"/>
            <a:ext cx="457200" cy="34747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" y="5440679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385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Airflow réseau introuvable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751575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❌  airflow-init ne voyait pas postgres / kafka au démarrage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60716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Ajout du réseau news-net dans airflow-common dans docker-compose.yml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Démonstration Fonctionnelle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Pipeline complet — bout en bout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5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3795" y="1554480"/>
            <a:ext cx="1600200" cy="1828800"/>
          </a:xfrm>
          <a:prstGeom prst="rect">
            <a:avLst/>
          </a:prstGeom>
          <a:noFill/>
          <a:ln w="228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5" y="1554480"/>
            <a:ext cx="160020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6716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</a:rPr>
              <a:t>Scraping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Python
BeautifulSoup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90572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0028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10028" y="1554480"/>
            <a:ext cx="1600200" cy="1828800"/>
          </a:xfrm>
          <a:prstGeom prst="rect">
            <a:avLst/>
          </a:prstGeom>
          <a:noFill/>
          <a:ln w="2286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0028" y="1554480"/>
            <a:ext cx="1600200" cy="640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2948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48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463EB"/>
                </a:solidFill>
              </a:rPr>
              <a:t>Kafka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55748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Streaming
news-articles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6804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66260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66260" y="1554480"/>
            <a:ext cx="1600200" cy="1828800"/>
          </a:xfrm>
          <a:prstGeom prst="rect">
            <a:avLst/>
          </a:prstGeom>
          <a:noFill/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66260" y="1554480"/>
            <a:ext cx="16002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1980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</a:rPr>
              <a:t>MinIO
Bronze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1980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900 fichiers
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3036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2492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1554480"/>
            <a:ext cx="1600200" cy="1828800"/>
          </a:xfrm>
          <a:prstGeom prst="rect">
            <a:avLst/>
          </a:prstGeom>
          <a:noFill/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22492" y="1554480"/>
            <a:ext cx="160020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5412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⚙️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8212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</a:rPr>
              <a:t>ETL
Silver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8212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Parquet
nettoyé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59267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78724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78724" y="1554480"/>
            <a:ext cx="1600200" cy="1828800"/>
          </a:xfrm>
          <a:prstGeom prst="rect">
            <a:avLst/>
          </a:prstGeom>
          <a:noFill/>
          <a:ln w="228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78724" y="1554480"/>
            <a:ext cx="160020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81644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4444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444"/>
                </a:solidFill>
              </a:rPr>
              <a:t>PostgreSQL
DWH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4444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173 articles
chargés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15500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34956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34956" y="1554480"/>
            <a:ext cx="1600200" cy="1828800"/>
          </a:xfrm>
          <a:prstGeom prst="rect">
            <a:avLst/>
          </a:prstGeom>
          <a:noFill/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934956" y="1554480"/>
            <a:ext cx="16002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37876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80676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Grafana
Dashboard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80676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13 panels
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36118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8AAA"/>
                </a:solidFill>
              </a:rPr>
              <a:t>Interfaces disponibles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041648"/>
            <a:ext cx="2240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0040" y="4041648"/>
            <a:ext cx="2240280" cy="2514600"/>
          </a:xfrm>
          <a:prstGeom prst="rect">
            <a:avLst/>
          </a:prstGeom>
          <a:noFill/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" y="4041648"/>
            <a:ext cx="2240280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" y="413308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Airflow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9768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463EB"/>
                </a:solidFill>
              </a:rPr>
              <a:t>localhost:8080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9768" y="50474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AAA"/>
                </a:solidFill>
              </a:rPr>
              <a:t>admin/admin123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88336" y="4041648"/>
            <a:ext cx="2240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88336" y="4041648"/>
            <a:ext cx="2240280" cy="251460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688336" y="4041648"/>
            <a:ext cx="224028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98064" y="413308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MinIO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98064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463EB"/>
                </a:solidFill>
              </a:rPr>
              <a:t>localhost:9200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98064" y="50474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AAA"/>
                </a:solidFill>
              </a:rPr>
              <a:t>minioadmin/minioadmin123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56631" y="4041648"/>
            <a:ext cx="2240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56631" y="4041648"/>
            <a:ext cx="2240280" cy="2514600"/>
          </a:xfrm>
          <a:prstGeom prst="rect">
            <a:avLst/>
          </a:prstGeom>
          <a:noFill/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56631" y="4041648"/>
            <a:ext cx="224028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66359" y="413308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Kafka UI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66359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463EB"/>
                </a:solidFill>
              </a:rPr>
              <a:t>localhost:8090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66359" y="50474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AAA"/>
                </a:solidFill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24927" y="4041648"/>
            <a:ext cx="2240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424927" y="4041648"/>
            <a:ext cx="2240280" cy="251460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424927" y="4041648"/>
            <a:ext cx="224028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534655" y="413308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Grafana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34655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463EB"/>
                </a:solidFill>
              </a:rPr>
              <a:t>localhost:3001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34655" y="50474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AAA"/>
                </a:solidFill>
              </a:rPr>
              <a:t>admin/admin123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793224" y="4041648"/>
            <a:ext cx="2240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793224" y="4041648"/>
            <a:ext cx="2240280" cy="2514600"/>
          </a:xfrm>
          <a:prstGeom prst="rect">
            <a:avLst/>
          </a:prstGeom>
          <a:noFill/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793224" y="4041648"/>
            <a:ext cx="2240280" cy="594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902951" y="413308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Metabase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02951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463EB"/>
                </a:solidFill>
              </a:rPr>
              <a:t>localhost:3000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02951" y="50474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AAA"/>
                </a:solidFill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6537960"/>
            <a:ext cx="11567160" cy="2743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463EB"/>
                </a:solidFill>
              </a:rPr>
              <a:t>Script de démonstration :   .\demo.ps1   (PowerShell)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Résumé · Résultats · Perspectives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5760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657600" cy="5166360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3657600" cy="640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📊  Résultats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9339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900+ articles Bronze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5973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173 articles dans DWH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5 sources actives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9242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131 mots-clés indexés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5876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3 pays couverts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2511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2 langues (EN / 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9145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75.7% taux de qualité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13 panels Grafana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2414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3 DAGs Airflow actifs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9048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11 services Docker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1371600"/>
            <a:ext cx="356616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1371600"/>
            <a:ext cx="3566160" cy="516636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1371600"/>
            <a:ext cx="356616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1463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✅  Points Forts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199339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Architecture distribuée moderne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45973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Pipeline 100% automatisé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29260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Streaming temps réel (Kafka)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39242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Qualité et gouvernance intégrées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8587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Monitoring complet (Prometheus)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32511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Déploiement reproductible Docker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79145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Code versionné Git (55 fichiers)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52578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Documentation complète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572414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Kubernetes (optionnel) 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619048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Bonus : Metabase BI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1371600"/>
            <a:ext cx="356616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1371600"/>
            <a:ext cx="3566160" cy="516636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1371600"/>
            <a:ext cx="35661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1463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🚀  Perspectives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199339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Déploiement Kubernetes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245973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Ajout Al Jazeera + Barlamane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29260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Analyse sentiment NLP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339242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Détection fake news ML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38587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Alertes tendances temps réel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32511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API REST pour dashboards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479145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Kafka multi-broker cluster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2578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Tableau de bord mobile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572414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Spark pour gros volumes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619048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Intégration LLM (résumés)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Livrables — Section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Tous les livrables attendus remis ✅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4475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2834640" cy="2240280"/>
          </a:xfrm>
          <a:prstGeom prst="rect">
            <a:avLst/>
          </a:prstGeom>
          <a:noFill/>
          <a:ln w="1905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44752"/>
            <a:ext cx="2834640" cy="640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81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60934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305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63EB"/>
                </a:solidFill>
              </a:rPr>
              <a:t>Code Source 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3347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55 fichiers · 2 commits
master branch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44475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444752"/>
            <a:ext cx="2834640" cy="2240280"/>
          </a:xfrm>
          <a:prstGeom prst="rect">
            <a:avLst/>
          </a:prstGeom>
          <a:noFill/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1444752"/>
            <a:ext cx="28346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6432" y="1581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60934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1305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Schéma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3347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docs/architecture.md
Diagramme ASCII complet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44475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444752"/>
            <a:ext cx="2834640" cy="2240280"/>
          </a:xfrm>
          <a:prstGeom prst="rect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444752"/>
            <a:ext cx="283464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1581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160934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305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Fichiers Docker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63347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docker-compose.yml
11 services définis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144475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35440" y="1444752"/>
            <a:ext cx="2834640" cy="2240280"/>
          </a:xfrm>
          <a:prstGeom prst="rec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35440" y="1444752"/>
            <a:ext cx="283464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00032" y="1581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☸️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12880" y="160934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1305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Fichiers Kubernetes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263347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k8s/ — 8 manifests YAML
Namespace + Deployments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86791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3867912"/>
            <a:ext cx="2834640" cy="2240280"/>
          </a:xfrm>
          <a:prstGeom prst="rect">
            <a:avLst/>
          </a:prstGeom>
          <a:noFill/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3867912"/>
            <a:ext cx="283464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" y="4005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403250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55371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Documentation Technique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05663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docs/technical_documentation.md
Installation + usage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386791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91840" y="3867912"/>
            <a:ext cx="2834640" cy="2240280"/>
          </a:xfrm>
          <a:prstGeom prst="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91840" y="3867912"/>
            <a:ext cx="28346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56432" y="4005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403250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455371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Dashboards Grafana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05663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13 panels analytiques
localhost:3001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386791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3640" y="3867912"/>
            <a:ext cx="2834640" cy="2240280"/>
          </a:xfrm>
          <a:prstGeom prst="rect">
            <a:avLst/>
          </a:prstGeom>
          <a:noFill/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63640" y="3867912"/>
            <a:ext cx="283464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28231" y="4005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41080" y="403250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455371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Démonstration Pipeline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05663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demo.ps1 PowerShell
Pipeline bout en bout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5440" y="386791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35440" y="3867912"/>
            <a:ext cx="2834640" cy="2240280"/>
          </a:xfrm>
          <a:prstGeom prst="rect">
            <a:avLst/>
          </a:prstGeom>
          <a:noFill/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35440" y="3867912"/>
            <a:ext cx="28346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00032" y="4005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12880" y="403250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72600" y="455371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Présentation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72600" y="505663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Ce fichier PPTX
22 slides complets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463EB"/>
                </a:solidFill>
              </a:rPr>
              <a:t>Projet Big Data complet · 11 services Docker · 173 articles analysés · Pipeline automatisé 24h/24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22 /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515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051560"/>
            <a:ext cx="120243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4D"/>
                </a:solidFill>
              </a:rPr>
              <a:t>📊  Grafana — Dashboard Analytique en Direct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8229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7A8AAA"/>
                </a:solidFill>
              </a:rPr>
              <a:t>173 articles  ·  5 sources  ·  131 mots-clés  ·  13 panels  ·  données réelles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228600"/>
            <a:ext cx="1874519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8128" y="256032"/>
            <a:ext cx="1828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localhost:3001</a:t>
            </a:r>
          </a:p>
        </p:txBody>
      </p:sp>
      <p:pic>
        <p:nvPicPr>
          <p:cNvPr id="9" name="Picture 8" descr="grafana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70432"/>
            <a:ext cx="11676888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515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051560"/>
            <a:ext cx="120243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4D"/>
                </a:solidFill>
              </a:rPr>
              <a:t>⚡  Airflow — Pipelines Orchestrés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8229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7A8AAA"/>
                </a:solidFill>
              </a:rPr>
              <a:t>3 DAGs actifs  ·  scraping_batch @hourly  ·  transformation @daily  ·  warehouse @daily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228600"/>
            <a:ext cx="1874519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8128" y="256032"/>
            <a:ext cx="1828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localhost:8080</a:t>
            </a:r>
          </a:p>
        </p:txBody>
      </p:sp>
      <p:pic>
        <p:nvPicPr>
          <p:cNvPr id="9" name="Picture 8" descr="airflow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70432"/>
            <a:ext cx="11676888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515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051560"/>
            <a:ext cx="12024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4D"/>
                </a:solidFill>
              </a:rPr>
              <a:t>🗄  MinIO — Data Lake (Bronze / Silver / Gold)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8229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7A8AAA"/>
                </a:solidFill>
              </a:rPr>
              <a:t>900+ fichiers JSON Bronze  ·  Parquet Silver  ·  Parquet Gold  ·  API S3 compatible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228600"/>
            <a:ext cx="1874519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8128" y="256032"/>
            <a:ext cx="1828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localhost:9200</a:t>
            </a:r>
          </a:p>
        </p:txBody>
      </p:sp>
      <p:pic>
        <p:nvPicPr>
          <p:cNvPr id="9" name="Picture 8" descr="minio_buck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70432"/>
            <a:ext cx="11676888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515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051560"/>
            <a:ext cx="12024360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4D"/>
                </a:solidFill>
              </a:rPr>
              <a:t>📨  Kafka UI — Streaming Temps Réel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8229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7A8AAA"/>
                </a:solidFill>
              </a:rPr>
              <a:t>Topic : news-articles  ·  3 partitions  ·  messages en continu depuis les scrapers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228600"/>
            <a:ext cx="1874519" cy="50292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8128" y="256032"/>
            <a:ext cx="1828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localhost:8090</a:t>
            </a:r>
          </a:p>
        </p:txBody>
      </p:sp>
      <p:pic>
        <p:nvPicPr>
          <p:cNvPr id="9" name="Picture 8" descr="kafka_to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70432"/>
            <a:ext cx="11676888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